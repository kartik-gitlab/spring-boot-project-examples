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7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AI-NATIVE DELIVERY  ·  VP SHOWCASE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Rewriting a 20-Year-Old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Opens Monolith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rebuilt it with GitHub Copilot + a spec-driven workflow — the journey, the obstacles, and the results.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474720"/>
            <a:ext cx="37033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3703320"/>
            <a:ext cx="640080" cy="640080"/>
          </a:xfrm>
          <a:prstGeom prst="ellipse">
            <a:avLst/>
          </a:prstGeom>
          <a:solidFill>
            <a:srgbClr val="EAF2FD"/>
          </a:solidFill>
          <a:ln w="9525">
            <a:solidFill>
              <a:srgbClr val="3D74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8313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6758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7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First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691640" y="4078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85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developed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4622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fully with GitHub Copilot + Spec — spec-driven generation, context &amp; prompt engineering in agent mode.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17720" y="347472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E7E0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3474720"/>
            <a:ext cx="3703320" cy="73152"/>
          </a:xfrm>
          <a:prstGeom prst="rect">
            <a:avLst/>
          </a:prstGeom>
          <a:solidFill>
            <a:srgbClr val="2BA593"/>
          </a:solidFill>
          <a:ln/>
        </p:spPr>
      </p:sp>
      <p:sp>
        <p:nvSpPr>
          <p:cNvPr id="14" name="Shape 11"/>
          <p:cNvSpPr/>
          <p:nvPr/>
        </p:nvSpPr>
        <p:spPr>
          <a:xfrm>
            <a:off x="4873752" y="3703320"/>
            <a:ext cx="640080" cy="640080"/>
          </a:xfrm>
          <a:prstGeom prst="ellipse">
            <a:avLst/>
          </a:prstGeom>
          <a:solidFill>
            <a:srgbClr val="ECF8F5"/>
          </a:solidFill>
          <a:ln w="9525">
            <a:solidFill>
              <a:srgbClr val="2BA59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3831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36758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A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Ready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5669280" y="4078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885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architected it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92040" y="44622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input/output modules, each exposable as a tool an agentic AI can operate.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144000" y="11887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44000" y="1188720"/>
            <a:ext cx="73152" cy="1188720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0" y="1280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7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+ 1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91440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Copilot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144000" y="25603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144000" y="2560320"/>
            <a:ext cx="73152" cy="1188720"/>
          </a:xfrm>
          <a:prstGeom prst="rect">
            <a:avLst/>
          </a:prstGeom>
          <a:solidFill>
            <a:srgbClr val="2BA593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A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91440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9144000" y="39319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144000" y="3931920"/>
            <a:ext cx="73152" cy="1188720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29" name="Text 25"/>
          <p:cNvSpPr/>
          <p:nvPr/>
        </p:nvSpPr>
        <p:spPr>
          <a:xfrm>
            <a:off x="914400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7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30" name="Text 26"/>
          <p:cNvSpPr/>
          <p:nvPr/>
        </p:nvSpPr>
        <p:spPr>
          <a:xfrm>
            <a:off x="9144000" y="4709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untangled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solidFill>
            <a:srgbClr val="EAF2FD"/>
          </a:solidFill>
          <a:ln w="12700">
            <a:solidFill>
              <a:srgbClr val="DCE6F4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733288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71600" y="5532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A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AMTM-QUANTUM   </a:t>
            </a:r>
            <a:pPr indent="0" marL="0">
              <a:buNone/>
            </a:pPr>
            <a:r>
              <a:rPr lang="en-US" sz="15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 ·  Brianne  ·  Chloe  ·  Romel</a:t>
            </a:r>
            <a:pPr indent="0" marL="0">
              <a:buNone/>
            </a:pPr>
            <a:r>
              <a:rPr lang="en-US" sz="1500" b="1" dirty="0">
                <a:solidFill>
                  <a:srgbClr val="3D7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GitHub Copilot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and Our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2788920"/>
          </a:xfrm>
          <a:prstGeom prst="rect">
            <a:avLst/>
          </a:prstGeom>
          <a:solidFill>
            <a:srgbClr val="FCF6EA"/>
          </a:solidFill>
          <a:ln w="12700">
            <a:solidFill>
              <a:srgbClr val="EEDFC0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82296" cy="2788920"/>
          </a:xfrm>
          <a:prstGeom prst="rect">
            <a:avLst/>
          </a:prstGeom>
          <a:solidFill>
            <a:srgbClr val="CE9A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E9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LEGACY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20-year-old monolithic Java batch — no frameworks, no tests, no docs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Opens logic entangled with Securities, Loans, Derivatives &amp; inventory (SFWL/MFWL/RAMWL)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existed only in the code — the source was the only spec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was slow and risky, gated by tribal knowledge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234440"/>
            <a:ext cx="5440680" cy="2788920"/>
          </a:xfrm>
          <a:prstGeom prst="rect">
            <a:avLst/>
          </a:prstGeom>
          <a:solidFill>
            <a:srgbClr val="EAF2FD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1234440"/>
            <a:ext cx="82296" cy="2788920"/>
          </a:xfrm>
          <a:prstGeom prst="rect">
            <a:avLst/>
          </a:prstGeom>
          <a:solidFill>
            <a:srgbClr val="3D74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7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92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Spec-first, not code-first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the spec the unit of work — a durable, reviewable contract. Code became its output: regenerable, not hand-guarded. So the asset we built is the spec library, and Copilot turns specs into consistent code on demand.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480560"/>
            <a:ext cx="603504" cy="603504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994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specs from the legacy code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55595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app was the only source of truth — we reverse-engineered it into specs (~70% extracted, ~30% new).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251960" y="425196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07992" y="4480560"/>
            <a:ext cx="603504" cy="603504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45994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8056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become the context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80560" y="55595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extracted specs + AGENTS.md &amp; guidelines act as the 'system prompt for the codebase.'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7955280" y="425196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11312" y="4480560"/>
            <a:ext cx="603504" cy="603504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45994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8388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183880" y="555955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Spring Boot / Spring Batch services on JDK 25 — each a clean input → output unit.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It with Copilot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spec-driven loop — the same workflow a large engineering org would use to scale generation with quality.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1031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Spec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contract: inputs, rules, outputs, edge cases.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2633472" y="2240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16352" y="16916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16352" y="1691640"/>
            <a:ext cx="21031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14" name="Shape 11"/>
          <p:cNvSpPr/>
          <p:nvPr/>
        </p:nvSpPr>
        <p:spPr>
          <a:xfrm>
            <a:off x="2999232" y="1920240"/>
            <a:ext cx="548640" cy="548640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299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70832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999232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99232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spec with # in IntelliJ agent mode; Copilot produces the module.</a:t>
            </a:r>
            <a:endParaRPr lang="en-US" sz="1030" dirty="0"/>
          </a:p>
        </p:txBody>
      </p:sp>
      <p:sp>
        <p:nvSpPr>
          <p:cNvPr id="19" name="Text 15"/>
          <p:cNvSpPr/>
          <p:nvPr/>
        </p:nvSpPr>
        <p:spPr>
          <a:xfrm>
            <a:off x="4901184" y="2240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084064" y="16916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4064" y="1691640"/>
            <a:ext cx="21031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22" name="Shape 18"/>
          <p:cNvSpPr/>
          <p:nvPr/>
        </p:nvSpPr>
        <p:spPr>
          <a:xfrm>
            <a:off x="5266944" y="1920240"/>
            <a:ext cx="548640" cy="548640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02996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38544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5266944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66944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human review — logic, fidelity to legacy, correctness.</a:t>
            </a:r>
            <a:endParaRPr lang="en-US" sz="1030" dirty="0"/>
          </a:p>
        </p:txBody>
      </p:sp>
      <p:sp>
        <p:nvSpPr>
          <p:cNvPr id="27" name="Text 22"/>
          <p:cNvSpPr/>
          <p:nvPr/>
        </p:nvSpPr>
        <p:spPr>
          <a:xfrm>
            <a:off x="7168896" y="2240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351776" y="16916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51776" y="1691640"/>
            <a:ext cx="21031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30" name="Shape 25"/>
          <p:cNvSpPr/>
          <p:nvPr/>
        </p:nvSpPr>
        <p:spPr>
          <a:xfrm>
            <a:off x="7534656" y="1920240"/>
            <a:ext cx="548640" cy="548640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02996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906256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534656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534656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Spring Boot tests; scenarios run through the module.</a:t>
            </a:r>
            <a:endParaRPr lang="en-US" sz="1030" dirty="0"/>
          </a:p>
        </p:txBody>
      </p:sp>
      <p:sp>
        <p:nvSpPr>
          <p:cNvPr id="35" name="Text 29"/>
          <p:cNvSpPr/>
          <p:nvPr/>
        </p:nvSpPr>
        <p:spPr>
          <a:xfrm>
            <a:off x="9436608" y="22402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9619488" y="169164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619488" y="1691640"/>
            <a:ext cx="2103120" cy="73152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38" name="Shape 32"/>
          <p:cNvSpPr/>
          <p:nvPr/>
        </p:nvSpPr>
        <p:spPr>
          <a:xfrm>
            <a:off x="9802368" y="1920240"/>
            <a:ext cx="548640" cy="548640"/>
          </a:xfrm>
          <a:prstGeom prst="ellipse">
            <a:avLst/>
          </a:prstGeom>
          <a:solidFill>
            <a:srgbClr val="F2F7FE"/>
          </a:solidFill>
          <a:ln w="9525">
            <a:solidFill>
              <a:srgbClr val="9CC0F0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202996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1173968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Text 34"/>
          <p:cNvSpPr/>
          <p:nvPr/>
        </p:nvSpPr>
        <p:spPr>
          <a:xfrm>
            <a:off x="9802368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802368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codified — Copilot refuses changes that break the pattern.</a:t>
            </a:r>
            <a:endParaRPr lang="en-US" sz="1030" dirty="0"/>
          </a:p>
        </p:txBody>
      </p:sp>
      <p:sp>
        <p:nvSpPr>
          <p:cNvPr id="43" name="Text 36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7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spec stays the source of truth — every future change re-enters the loop at step 1.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48640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548640" y="4160520"/>
            <a:ext cx="73152" cy="1965960"/>
          </a:xfrm>
          <a:prstGeom prst="rect">
            <a:avLst/>
          </a:prstGeom>
          <a:solidFill>
            <a:srgbClr val="2BA593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34840"/>
            <a:ext cx="457200" cy="4572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463040" y="4434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→ specs → context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86868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mined the 20-year-old app into specs, then fed them back as context engineering — the legacy logic itself drove faithful generation.</a:t>
            </a:r>
            <a:endParaRPr lang="en-US" sz="1250" dirty="0"/>
          </a:p>
        </p:txBody>
      </p:sp>
      <p:sp>
        <p:nvSpPr>
          <p:cNvPr id="49" name="Shape 41"/>
          <p:cNvSpPr/>
          <p:nvPr/>
        </p:nvSpPr>
        <p:spPr>
          <a:xfrm>
            <a:off x="6172200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6172200" y="4160520"/>
            <a:ext cx="73152" cy="1965960"/>
          </a:xfrm>
          <a:prstGeom prst="rect">
            <a:avLst/>
          </a:prstGeom>
          <a:solidFill>
            <a:srgbClr val="2BA593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434840"/>
            <a:ext cx="457200" cy="45720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086600" y="4434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reusable specs</a:t>
            </a:r>
            <a:endParaRPr lang="en-US" sz="1500" dirty="0"/>
          </a:p>
        </p:txBody>
      </p:sp>
      <p:sp>
        <p:nvSpPr>
          <p:cNvPr id="53" name="Text 44"/>
          <p:cNvSpPr/>
          <p:nvPr/>
        </p:nvSpPr>
        <p:spPr>
          <a:xfrm>
            <a:off x="649224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module, new field, new rule — each is a spec the team can invoke, so generation stays consistent across all four developers.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 &amp; What We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was earned, not instant — here's the curve and how we turned each obstacle into a practice.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83080"/>
          </a:xfrm>
          <a:prstGeom prst="rect">
            <a:avLst/>
          </a:prstGeom>
          <a:solidFill>
            <a:srgbClr val="FCF6EA"/>
          </a:solidFill>
          <a:ln w="12700">
            <a:solidFill>
              <a:srgbClr val="EEDFC0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E9A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9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sprints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was rough and wandered on ambiguous specs. We were learning what 'good context' meant.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6908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8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51960" y="1554480"/>
            <a:ext cx="3520440" cy="1783080"/>
          </a:xfrm>
          <a:prstGeom prst="rect">
            <a:avLst/>
          </a:prstGeom>
          <a:solidFill>
            <a:srgbClr val="EAF2FD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178308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74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9019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7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— the climb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07992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Tightened specs, codified standards, built the review loop. Quality and speed both rose.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8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955280" y="1554480"/>
            <a:ext cx="3520440" cy="1783080"/>
          </a:xfrm>
          <a:prstGeom prst="rect">
            <a:avLst/>
          </a:prstGeom>
          <a:solidFill>
            <a:srgbClr val="ECF8F5"/>
          </a:solidFill>
          <a:ln w="12700">
            <a:solidFill>
              <a:srgbClr val="C9E7E0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11312" y="178308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A59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9019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810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A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— repeatable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11312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spec → generate → review → test → lock rhythm the whole team shares.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Obstacles, and the practice that solved each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79976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2153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drifts on vague specs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371600" y="45811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B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3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spec, not the prompt — ambiguity is a spec bug.</a:t>
            </a:r>
            <a:endParaRPr lang="en-US" sz="1130" dirty="0"/>
          </a:p>
        </p:txBody>
      </p:sp>
      <p:sp>
        <p:nvSpPr>
          <p:cNvPr id="26" name="Shape 20"/>
          <p:cNvSpPr/>
          <p:nvPr/>
        </p:nvSpPr>
        <p:spPr>
          <a:xfrm>
            <a:off x="6153912" y="4069080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379976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76872" y="42153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generate ≠ fast to ship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976872" y="45811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B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3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review &amp; test correction; that's where real time goes.</a:t>
            </a:r>
            <a:endParaRPr lang="en-US" sz="1130" dirty="0"/>
          </a:p>
        </p:txBody>
      </p:sp>
      <p:sp>
        <p:nvSpPr>
          <p:cNvPr id="30" name="Shape 23"/>
          <p:cNvSpPr/>
          <p:nvPr/>
        </p:nvSpPr>
        <p:spPr>
          <a:xfrm>
            <a:off x="548640" y="5285232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96128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54315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4 developers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371600" y="57972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B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3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standards so Copilot enforces them regardless of author.</a:t>
            </a:r>
            <a:endParaRPr lang="en-US" sz="1130" dirty="0"/>
          </a:p>
        </p:txBody>
      </p:sp>
      <p:sp>
        <p:nvSpPr>
          <p:cNvPr id="34" name="Shape 26"/>
          <p:cNvSpPr/>
          <p:nvPr/>
        </p:nvSpPr>
        <p:spPr>
          <a:xfrm>
            <a:off x="6153912" y="5285232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5596128"/>
            <a:ext cx="411480" cy="4114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76872" y="54315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Plausible-but-wrong business logic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976872" y="57972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B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30" dirty="0">
                <a:solidFill>
                  <a:srgbClr val="4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the legacy source — fidelity over speed.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Business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20440" cy="1783080"/>
          </a:xfrm>
          <a:prstGeom prst="rect">
            <a:avLst/>
          </a:prstGeom>
          <a:solidFill>
            <a:srgbClr val="ECF8F5"/>
          </a:solidFill>
          <a:ln w="12700">
            <a:solidFill>
              <a:srgbClr val="C9E7E0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520440" cy="82296"/>
          </a:xfrm>
          <a:prstGeom prst="rect">
            <a:avLst/>
          </a:prstGeom>
          <a:solidFill>
            <a:srgbClr val="2BA59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A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+ Spring Boot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across modules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strong, broad safety net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520440" cy="1783080"/>
          </a:xfrm>
          <a:prstGeom prst="rect">
            <a:avLst/>
          </a:prstGeom>
          <a:solidFill>
            <a:srgbClr val="EAF2FD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188720"/>
            <a:ext cx="3520440" cy="82296"/>
          </a:xfrm>
          <a:prstGeom prst="rect">
            <a:avLst/>
          </a:prstGeom>
          <a:solidFill>
            <a:srgbClr val="3D74D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371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7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scenario parity vs. legacy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migration fidelity — in progress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188720"/>
            <a:ext cx="3520440" cy="1783080"/>
          </a:xfrm>
          <a:prstGeom prst="rect">
            <a:avLst/>
          </a:prstGeom>
          <a:solidFill>
            <a:srgbClr val="F2F7FE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188720"/>
            <a:ext cx="3520440" cy="82296"/>
          </a:xfrm>
          <a:prstGeom prst="rect">
            <a:avLst/>
          </a:prstGeom>
          <a:solidFill>
            <a:srgbClr val="2C5BB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371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B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 / 30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3816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vs. new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24871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split from the old code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lands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13048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98448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fidelity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42153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+ scenario tests prove behavior matches the 20-year-old system as coverage grows.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4270248" y="361188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3813048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20056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change velocity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498848" y="42153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field or rule is a spec edit — not a code-archaeology project.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7991856" y="361188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3813048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41664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20456" y="42153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the single source of truth; the system explains itself.</a:t>
            </a:r>
            <a:endParaRPr lang="en-US" sz="1030" dirty="0"/>
          </a:p>
        </p:txBody>
      </p:sp>
      <p:sp>
        <p:nvSpPr>
          <p:cNvPr id="31" name="Shape 26"/>
          <p:cNvSpPr/>
          <p:nvPr/>
        </p:nvSpPr>
        <p:spPr>
          <a:xfrm>
            <a:off x="548640" y="4928616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29784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98448" y="50932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77240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read specs and guidelines, not tribal knowledge.</a:t>
            </a:r>
            <a:endParaRPr lang="en-US" sz="1030" dirty="0"/>
          </a:p>
        </p:txBody>
      </p:sp>
      <p:sp>
        <p:nvSpPr>
          <p:cNvPr id="35" name="Shape 29"/>
          <p:cNvSpPr/>
          <p:nvPr/>
        </p:nvSpPr>
        <p:spPr>
          <a:xfrm>
            <a:off x="4270248" y="4928616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5129784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20056" y="50932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498848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high-standard code regardless of who authored it.</a:t>
            </a:r>
            <a:endParaRPr lang="en-US" sz="1030" dirty="0"/>
          </a:p>
        </p:txBody>
      </p:sp>
      <p:sp>
        <p:nvSpPr>
          <p:cNvPr id="39" name="Shape 32"/>
          <p:cNvSpPr/>
          <p:nvPr/>
        </p:nvSpPr>
        <p:spPr>
          <a:xfrm>
            <a:off x="7991856" y="4928616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AEC2E0">
                <a:alpha val="20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5129784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741664" y="50932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Agentic-ready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220456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88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services can later be operated as tools by AI agents.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Opens Rewrite — Built with Copilot</dc:title>
  <dc:subject>PptxGenJS Presentation</dc:subject>
  <dc:creator>Engineering</dc:creator>
  <cp:lastModifiedBy>Engineering</cp:lastModifiedBy>
  <cp:revision>1</cp:revision>
  <dcterms:created xsi:type="dcterms:W3CDTF">2026-06-05T02:54:39Z</dcterms:created>
  <dcterms:modified xsi:type="dcterms:W3CDTF">2026-06-05T02:54:39Z</dcterms:modified>
</cp:coreProperties>
</file>