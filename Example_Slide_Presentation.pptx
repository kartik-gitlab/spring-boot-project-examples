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[0:00–0:15] Walk out, pause, let the slide sit for a beat. "Good morning. I've got five minutes, so I'm going to ask you to imagine something with me. Hold on to this line on the screen — millions of rows, a few thousand, nothing lost. We'll come back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[0:15–0:45] "Think about how much data our systems create every single day — every application, every transaction, every log. [Optional: drop in one real number from our own estate here, e.g. how many records a key platform writes per day.] That pile keeps getting bigger. But our time, our test cycles, our compute — those don't grow at the same speed. We simply can't look at all of it. So what do we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[0:45–1:25] "We take a sample. Ten percent, at random, and we hope it's representative. Look at the picture — the white rings are what random sampling picked. Plenty from the big, common groups. But see the orange dots? The rare ones. The outliers. Random sampling walked right past them." Point at the amber line. "And the records we throw away are the ones that break us. The edge case we didn't test is the Friday-night incident. The rare pattern the model never saw is the fraud it doesn't catch. The outlier that got averaged away is the migration that looked green and wasn't."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[1:25–1:40] Slow down here. Pause before reading it. "So let me ask you — what if a million rows could be represented by a thousand... and still carry every single pattern in the data?" Let it land. Look at the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[1:40–1:55] Click, let the amber line rise. "And what if it didn't stop there — what if those thousand rows also kept every edge case, and every outlier? The exact records random sampling throws away." Pause. "Some of you are already picturing that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[1:55–2:15] "If you're picturing it — good news. We built it. It's called Smart Sampling, and the prototype is working today. Same data as the earlier picture — but look where the rings are now. A few from every group, the small ones too, and every orange outlier is kept. Nothing important left behind."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[2:15–3:00] Keep it light — name the ML, skip the maths. "How does it work? It's a machine-learning pipeline, four stages. One: profile — is the data healthy? Two: understand — it ranks which features actually drive behavior, automatically. Three: protect — machine-learning anomaly detection finds every edge case and locks it in, then every segment gets covered. Four: select — machine-learning clustering groups what's left and keeps the few rows that speak for the many. And there's no model to train or babysit — the ML runs inside the pipeline. Same input, same result, every time, so it's auditable. If you want the algorithms, find me after — I'll happily geek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[3:00–3:30] "This isn't a slide-ware idea. On our prototype run the dataset got 60% smaller — and we still covered 100% of the behavioral signatures. Every edge case and every outlier it found — 100% — made it into the final sample. The ones random sampling would likely have dropped. The next step is to prove it at production scale — which is where you come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[3:30–4:00] "Where does this help? Think about your own team. QA — run regression on a small slice instead of production-sized data. Data science — training sets that include the rare cases. Migrations — compare source and target properly before go-live. Monitoring — consistent samples to catch drift. And synthetic data. If you touch data, one of these is probably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[4:00–4:35] "Where's it going? Today it's an interactive tool. Next, it becomes a service — an API your pipelines call in CI/CD. And the future: an AI agent that watches its own quality scores, adjusts its settings, and re-runs until it gets it right. And the best part — it's ours. Home-grown. No licence fees, just compute. Tuned to your data, and every run comes with its own quality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"So here's my ask. Bring me your biggest, messiest dataset. Let's see how few rows it takes to tell the whole story. Millions of rows. A few thousand. Nothing lost. Thank you." Stop. Smile. Don't add anything after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386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386F"/>
              </a:gs>
              <a:gs pos="55000">
                <a:srgbClr val="0A1A3A"/>
              </a:gs>
              <a:gs pos="100000">
                <a:srgbClr val="06122A"/>
              </a:gs>
            </a:gsLst>
            <a:path path="circle">
              <a:fillToRect l="78000" t="35000" r="22000" b="65000"/>
            </a:path>
          </a:gradFill>
          <a:ln/>
        </p:spPr>
      </p:sp>
      <p:pic>
        <p:nvPicPr>
          <p:cNvPr id="3" name="Image 0" descr="Many data points condensing into a small representative set that keeps the outliers">    </p:cNvPr>
          <p:cNvPicPr>
            <a:picLocks noChangeAspect="1"/>
          </p:cNvPicPr>
          <p:nvPr/>
        </p:nvPicPr>
        <p:blipFill>
          <a:blip r:embed="rId1"/>
          <a:srcRect l="0" r="0" t="0" b="0"/>
          <a:stretch/>
        </p:blipFill>
        <p:spPr>
          <a:xfrm>
            <a:off x="6604000" y="1587500"/>
            <a:ext cx="4775200" cy="3302000"/>
          </a:xfrm>
          <a:prstGeom prst="rect">
            <a:avLst/>
          </a:prstGeom>
        </p:spPr>
      </p:pic>
      <p:sp>
        <p:nvSpPr>
          <p:cNvPr id="4" name="Text 1"/>
          <p:cNvSpPr/>
          <p:nvPr/>
        </p:nvSpPr>
        <p:spPr>
          <a:xfrm>
            <a:off x="812800" y="812800"/>
            <a:ext cx="5886450"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SMART SAMPLING</a:t>
            </a:r>
            <a:endParaRPr lang="en-US" sz="1300" dirty="0"/>
          </a:p>
        </p:txBody>
      </p:sp>
      <p:sp>
        <p:nvSpPr>
          <p:cNvPr id="5" name="Text 2"/>
          <p:cNvSpPr/>
          <p:nvPr/>
        </p:nvSpPr>
        <p:spPr>
          <a:xfrm>
            <a:off x="812800" y="1297914"/>
            <a:ext cx="5886450" cy="2000448"/>
          </a:xfrm>
          <a:prstGeom prst="rect">
            <a:avLst/>
          </a:prstGeom>
          <a:noFill/>
          <a:ln/>
        </p:spPr>
        <p:txBody>
          <a:bodyPr wrap="square" lIns="0" tIns="0" rIns="0" bIns="0" rtlCol="0" anchor="t">
            <a:normAutofit/>
          </a:bodyPr>
          <a:lstStyle/>
          <a:p>
            <a:pPr algn="l" indent="0" marL="0">
              <a:lnSpc>
                <a:spcPts val="5184"/>
              </a:lnSpc>
              <a:buNone/>
            </a:pPr>
            <a:r>
              <a:rPr lang="en-US" sz="4800" b="1" dirty="0">
                <a:solidFill>
                  <a:srgbClr val="EEF2F8"/>
                </a:solidFill>
                <a:latin typeface="Space Grotesk" pitchFamily="34" charset="0"/>
                <a:ea typeface="Space Grotesk" pitchFamily="34" charset="-122"/>
                <a:cs typeface="Space Grotesk" pitchFamily="34" charset="-120"/>
              </a:rPr>
              <a:t>Millions of rows.</a:t>
            </a:r>
            <a:endParaRPr lang="en-US" sz="4800" dirty="0"/>
          </a:p>
          <a:p>
            <a:pPr algn="l" indent="0" marL="0">
              <a:lnSpc>
                <a:spcPts val="5184"/>
              </a:lnSpc>
              <a:buNone/>
            </a:pPr>
            <a:r>
              <a:rPr lang="en-US" sz="4800" b="1" dirty="0">
                <a:solidFill>
                  <a:srgbClr val="EEF2F8"/>
                </a:solidFill>
                <a:latin typeface="Space Grotesk" pitchFamily="34" charset="0"/>
                <a:ea typeface="Space Grotesk" pitchFamily="34" charset="-122"/>
                <a:cs typeface="Space Grotesk" pitchFamily="34" charset="-120"/>
              </a:rPr>
              <a:t>A few thousand.</a:t>
            </a:r>
            <a:endParaRPr lang="en-US" sz="4800" dirty="0"/>
          </a:p>
          <a:p>
            <a:pPr algn="l" indent="0" marL="0">
              <a:lnSpc>
                <a:spcPts val="5184"/>
              </a:lnSpc>
              <a:buNone/>
            </a:pPr>
            <a:r>
              <a:rPr lang="en-US" sz="4800" b="1" dirty="0">
                <a:solidFill>
                  <a:srgbClr val="FFB547"/>
                </a:solidFill>
                <a:latin typeface="Space Grotesk" pitchFamily="34" charset="0"/>
                <a:ea typeface="Space Grotesk" pitchFamily="34" charset="-122"/>
                <a:cs typeface="Space Grotesk" pitchFamily="34" charset="-120"/>
              </a:rPr>
              <a:t>Nothing lost.</a:t>
            </a:r>
            <a:endParaRPr lang="en-US" sz="4800" dirty="0"/>
          </a:p>
        </p:txBody>
      </p:sp>
      <p:sp>
        <p:nvSpPr>
          <p:cNvPr id="6" name="Text 3"/>
          <p:cNvSpPr/>
          <p:nvPr/>
        </p:nvSpPr>
        <p:spPr>
          <a:xfrm>
            <a:off x="812800" y="5796293"/>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B4C3DC"/>
                </a:solidFill>
                <a:latin typeface="IBM Plex Sans" pitchFamily="34" charset="0"/>
                <a:ea typeface="IBM Plex Sans" pitchFamily="34" charset="-122"/>
                <a:cs typeface="IBM Plex Sans" pitchFamily="34" charset="-120"/>
              </a:rPr>
              <a:t>Karthik S · Technology Conference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42E"/>
        </a:solidFill>
      </p:bgPr>
    </p:bg>
    <p:spTree>
      <p:nvGrpSpPr>
        <p:cNvPr id="1" name=""/>
        <p:cNvGrpSpPr/>
        <p:nvPr/>
      </p:nvGrpSpPr>
      <p:grpSpPr>
        <a:xfrm>
          <a:off x="0" y="0"/>
          <a:ext cx="0" cy="0"/>
          <a:chOff x="0" y="0"/>
          <a:chExt cx="0" cy="0"/>
        </a:xfrm>
      </p:grpSpPr>
      <p:pic>
        <p:nvPicPr>
          <p:cNvPr id="2" name="Image 0" descr="A rising exponential curve suggesting data volume growth">    </p:cNvPr>
          <p:cNvPicPr>
            <a:picLocks noChangeAspect="1"/>
          </p:cNvPicPr>
          <p:nvPr/>
        </p:nvPicPr>
        <p:blipFill>
          <a:blip r:embed="rId1"/>
          <a:srcRect l="0" r="0" t="-31" b="-31"/>
          <a:stretch/>
        </p:blipFill>
        <p:spPr>
          <a:xfrm>
            <a:off x="812800" y="4140200"/>
            <a:ext cx="10566400" cy="1905000"/>
          </a:xfrm>
          <a:prstGeom prst="rect">
            <a:avLst/>
          </a:prstGeom>
        </p:spPr>
      </p:pic>
      <p:sp>
        <p:nvSpPr>
          <p:cNvPr id="3"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WHERE WE ARE</a:t>
            </a:r>
            <a:endParaRPr lang="en-US" sz="1300" dirty="0"/>
          </a:p>
        </p:txBody>
      </p:sp>
      <p:sp>
        <p:nvSpPr>
          <p:cNvPr id="4" name="Text 1"/>
          <p:cNvSpPr/>
          <p:nvPr/>
        </p:nvSpPr>
        <p:spPr>
          <a:xfrm>
            <a:off x="812800" y="1297914"/>
            <a:ext cx="10883392" cy="1198827"/>
          </a:xfrm>
          <a:prstGeom prst="rect">
            <a:avLst/>
          </a:prstGeom>
          <a:noFill/>
          <a:ln/>
        </p:spPr>
        <p:txBody>
          <a:bodyPr wrap="square" lIns="0" tIns="0" rIns="0" bIns="0" rtlCol="0" anchor="t">
            <a:normAutofit/>
          </a:bodyPr>
          <a:lstStyle/>
          <a:p>
            <a:pPr algn="l" indent="0" marL="0">
              <a:lnSpc>
                <a:spcPts val="4620"/>
              </a:lnSpc>
              <a:buNone/>
            </a:pPr>
            <a:r>
              <a:rPr lang="en-US" sz="4200" b="1" dirty="0">
                <a:solidFill>
                  <a:srgbClr val="EEF2F8"/>
                </a:solidFill>
                <a:latin typeface="Space Grotesk" pitchFamily="34" charset="0"/>
                <a:ea typeface="Space Grotesk" pitchFamily="34" charset="-122"/>
                <a:cs typeface="Space Grotesk" pitchFamily="34" charset="-120"/>
              </a:rPr>
              <a:t>Our data keeps growing.</a:t>
            </a:r>
            <a:endParaRPr lang="en-US" sz="4200" dirty="0"/>
          </a:p>
          <a:p>
            <a:pPr algn="l" indent="0" marL="0">
              <a:lnSpc>
                <a:spcPts val="4620"/>
              </a:lnSpc>
              <a:buNone/>
            </a:pPr>
            <a:r>
              <a:rPr lang="en-US" sz="4200" b="1" dirty="0">
                <a:solidFill>
                  <a:srgbClr val="5CC8FF"/>
                </a:solidFill>
                <a:latin typeface="Space Grotesk" pitchFamily="34" charset="0"/>
                <a:ea typeface="Space Grotesk" pitchFamily="34" charset="-122"/>
                <a:cs typeface="Space Grotesk" pitchFamily="34" charset="-120"/>
              </a:rPr>
              <a:t>Our time to look at it doesn't.</a:t>
            </a:r>
            <a:endParaRPr lang="en-US" sz="4200" dirty="0"/>
          </a:p>
        </p:txBody>
      </p:sp>
      <p:sp>
        <p:nvSpPr>
          <p:cNvPr id="5" name="Text 2"/>
          <p:cNvSpPr/>
          <p:nvPr/>
        </p:nvSpPr>
        <p:spPr>
          <a:xfrm>
            <a:off x="812800" y="2725341"/>
            <a:ext cx="8502650" cy="665427"/>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4C3DC"/>
                </a:solidFill>
                <a:latin typeface="IBM Plex Sans" pitchFamily="34" charset="0"/>
                <a:ea typeface="IBM Plex Sans" pitchFamily="34" charset="-122"/>
                <a:cs typeface="IBM Plex Sans" pitchFamily="34" charset="-120"/>
              </a:rPr>
              <a:t>Every day, our systems create more records than we can ever test, train on, or check — and the line only goes up.</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812800" y="1299304"/>
            <a:ext cx="5284724"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THE SHORTCUT</a:t>
            </a:r>
            <a:endParaRPr lang="en-US" sz="1300" dirty="0"/>
          </a:p>
        </p:txBody>
      </p:sp>
      <p:sp>
        <p:nvSpPr>
          <p:cNvPr id="3" name="Text 1"/>
          <p:cNvSpPr/>
          <p:nvPr/>
        </p:nvSpPr>
        <p:spPr>
          <a:xfrm>
            <a:off x="812800" y="1784417"/>
            <a:ext cx="5284724" cy="1671241"/>
          </a:xfrm>
          <a:prstGeom prst="rect">
            <a:avLst/>
          </a:prstGeom>
          <a:noFill/>
          <a:ln/>
        </p:spPr>
        <p:txBody>
          <a:bodyPr wrap="square" lIns="0" tIns="0" rIns="0" bIns="0" rtlCol="0" anchor="t">
            <a:normAutofit/>
          </a:bodyPr>
          <a:lstStyle/>
          <a:p>
            <a:pPr algn="l" indent="0" marL="0">
              <a:lnSpc>
                <a:spcPts val="4320"/>
              </a:lnSpc>
              <a:buNone/>
            </a:pPr>
            <a:r>
              <a:rPr lang="en-US" sz="4000" b="1" dirty="0">
                <a:solidFill>
                  <a:srgbClr val="EEF2F8"/>
                </a:solidFill>
                <a:latin typeface="Space Grotesk" pitchFamily="34" charset="0"/>
                <a:ea typeface="Space Grotesk" pitchFamily="34" charset="-122"/>
                <a:cs typeface="Space Grotesk" pitchFamily="34" charset="-120"/>
              </a:rPr>
              <a:t>So we sample.</a:t>
            </a:r>
            <a:endParaRPr lang="en-US" sz="4000" dirty="0"/>
          </a:p>
          <a:p>
            <a:pPr algn="l" indent="0" marL="0">
              <a:lnSpc>
                <a:spcPts val="4320"/>
              </a:lnSpc>
              <a:buNone/>
            </a:pPr>
            <a:r>
              <a:rPr lang="en-US" sz="4000" b="1" dirty="0">
                <a:solidFill>
                  <a:srgbClr val="EEF2F8"/>
                </a:solidFill>
                <a:latin typeface="Space Grotesk" pitchFamily="34" charset="0"/>
                <a:ea typeface="Space Grotesk" pitchFamily="34" charset="-122"/>
                <a:cs typeface="Space Grotesk" pitchFamily="34" charset="-120"/>
              </a:rPr>
              <a:t>Randomly.</a:t>
            </a:r>
            <a:endParaRPr lang="en-US" sz="4000" dirty="0"/>
          </a:p>
          <a:p>
            <a:pPr algn="l" indent="0" marL="0">
              <a:lnSpc>
                <a:spcPts val="4320"/>
              </a:lnSpc>
              <a:buNone/>
            </a:pPr>
            <a:r>
              <a:rPr lang="en-US" sz="4000" b="1" dirty="0">
                <a:solidFill>
                  <a:srgbClr val="FFB547"/>
                </a:solidFill>
                <a:latin typeface="Space Grotesk" pitchFamily="34" charset="0"/>
                <a:ea typeface="Space Grotesk" pitchFamily="34" charset="-122"/>
                <a:cs typeface="Space Grotesk" pitchFamily="34" charset="-120"/>
              </a:rPr>
              <a:t>And hope.</a:t>
            </a:r>
            <a:endParaRPr lang="en-US" sz="4000" dirty="0"/>
          </a:p>
        </p:txBody>
      </p:sp>
      <p:sp>
        <p:nvSpPr>
          <p:cNvPr id="4" name="Text 2"/>
          <p:cNvSpPr/>
          <p:nvPr/>
        </p:nvSpPr>
        <p:spPr>
          <a:xfrm>
            <a:off x="812800" y="3684257"/>
            <a:ext cx="5284724" cy="909241"/>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4C3DC"/>
                </a:solidFill>
                <a:latin typeface="IBM Plex Sans" pitchFamily="34" charset="0"/>
                <a:ea typeface="IBM Plex Sans" pitchFamily="34" charset="-122"/>
                <a:cs typeface="IBM Plex Sans" pitchFamily="34" charset="-120"/>
              </a:rPr>
              <a:t>A random 10% looks representative. But the rare records — the ones that matter most — usually don't make the cut.</a:t>
            </a:r>
            <a:endParaRPr lang="en-US" sz="1600" dirty="0"/>
          </a:p>
        </p:txBody>
      </p:sp>
      <p:sp>
        <p:nvSpPr>
          <p:cNvPr id="5" name="Shape 3"/>
          <p:cNvSpPr/>
          <p:nvPr/>
        </p:nvSpPr>
        <p:spPr>
          <a:xfrm>
            <a:off x="831850" y="4822098"/>
            <a:ext cx="0" cy="736600"/>
          </a:xfrm>
          <a:prstGeom prst="line">
            <a:avLst/>
          </a:prstGeom>
          <a:noFill/>
          <a:ln w="38100">
            <a:solidFill>
              <a:srgbClr val="FFB547"/>
            </a:solidFill>
            <a:prstDash val="solid"/>
          </a:ln>
        </p:spPr>
      </p:sp>
      <p:sp>
        <p:nvSpPr>
          <p:cNvPr id="6" name="Text 4"/>
          <p:cNvSpPr/>
          <p:nvPr/>
        </p:nvSpPr>
        <p:spPr>
          <a:xfrm>
            <a:off x="1054100" y="4872898"/>
            <a:ext cx="5036185" cy="660400"/>
          </a:xfrm>
          <a:prstGeom prst="rect">
            <a:avLst/>
          </a:prstGeom>
          <a:noFill/>
          <a:ln/>
        </p:spPr>
        <p:txBody>
          <a:bodyPr wrap="square" lIns="0" tIns="0" rIns="0" bIns="0" rtlCol="0" anchor="t">
            <a:normAutofit/>
          </a:bodyPr>
          <a:lstStyle/>
          <a:p>
            <a:pPr algn="l" indent="0" marL="0">
              <a:lnSpc>
                <a:spcPts val="2500"/>
              </a:lnSpc>
              <a:buNone/>
            </a:pPr>
            <a:r>
              <a:rPr lang="en-US" sz="2000" b="1" dirty="0">
                <a:solidFill>
                  <a:srgbClr val="EEF2F8"/>
                </a:solidFill>
                <a:latin typeface="Space Grotesk" pitchFamily="34" charset="0"/>
                <a:ea typeface="Space Grotesk" pitchFamily="34" charset="-122"/>
                <a:cs typeface="Space Grotesk" pitchFamily="34" charset="-120"/>
              </a:rPr>
              <a:t>The records we throw away are the ones that break us.</a:t>
            </a:r>
            <a:endParaRPr lang="en-US" sz="2000" dirty="0"/>
          </a:p>
        </p:txBody>
      </p:sp>
      <p:pic>
        <p:nvPicPr>
          <p:cNvPr id="7" name="Image 0" descr="A random sample: scattered picks from the big segments, rare outliers missed">    </p:cNvPr>
          <p:cNvPicPr>
            <a:picLocks noChangeAspect="1"/>
          </p:cNvPicPr>
          <p:nvPr/>
        </p:nvPicPr>
        <p:blipFill>
          <a:blip r:embed="rId1"/>
          <a:srcRect l="0" r="0" t="0" b="0"/>
          <a:stretch/>
        </p:blipFill>
        <p:spPr>
          <a:xfrm>
            <a:off x="6553200" y="1341107"/>
            <a:ext cx="4826000" cy="3810000"/>
          </a:xfrm>
          <a:prstGeom prst="rect">
            <a:avLst/>
          </a:prstGeom>
        </p:spPr>
      </p:pic>
      <p:sp>
        <p:nvSpPr>
          <p:cNvPr id="8" name="Text 5"/>
          <p:cNvSpPr/>
          <p:nvPr/>
        </p:nvSpPr>
        <p:spPr>
          <a:xfrm>
            <a:off x="6553200" y="5303507"/>
            <a:ext cx="136869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EEF2F8"/>
                </a:solidFill>
                <a:latin typeface="IBM Plex Sans" pitchFamily="34" charset="0"/>
                <a:ea typeface="IBM Plex Sans" pitchFamily="34" charset="-122"/>
                <a:cs typeface="IBM Plex Sans" pitchFamily="34" charset="-120"/>
              </a:rPr>
              <a:t>○</a:t>
            </a:r>
            <a:r>
              <a:rPr lang="en-US" sz="1200" dirty="0">
                <a:solidFill>
                  <a:srgbClr val="B4C3DC"/>
                </a:solidFill>
                <a:latin typeface="IBM Plex Sans" pitchFamily="34" charset="0"/>
                <a:ea typeface="IBM Plex Sans" pitchFamily="34" charset="-122"/>
                <a:cs typeface="IBM Plex Sans" pitchFamily="34" charset="-120"/>
              </a:rPr>
              <a:t> picked at random</a:t>
            </a:r>
            <a:endParaRPr lang="en-US" sz="1200" dirty="0"/>
          </a:p>
        </p:txBody>
      </p:sp>
      <p:sp>
        <p:nvSpPr>
          <p:cNvPr id="9" name="Text 6"/>
          <p:cNvSpPr/>
          <p:nvPr/>
        </p:nvSpPr>
        <p:spPr>
          <a:xfrm>
            <a:off x="8125090" y="5303507"/>
            <a:ext cx="180885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B547"/>
                </a:solidFill>
                <a:latin typeface="IBM Plex Sans" pitchFamily="34" charset="0"/>
                <a:ea typeface="IBM Plex Sans" pitchFamily="34" charset="-122"/>
                <a:cs typeface="IBM Plex Sans" pitchFamily="34" charset="-120"/>
              </a:rPr>
              <a:t>●</a:t>
            </a:r>
            <a:r>
              <a:rPr lang="en-US" sz="1200" dirty="0">
                <a:solidFill>
                  <a:srgbClr val="B4C3DC"/>
                </a:solidFill>
                <a:latin typeface="IBM Plex Sans" pitchFamily="34" charset="0"/>
                <a:ea typeface="IBM Plex Sans" pitchFamily="34" charset="-122"/>
                <a:cs typeface="IBM Plex Sans" pitchFamily="34" charset="-120"/>
              </a:rPr>
              <a:t> rare cases — left behind</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22C5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22C5E"/>
              </a:gs>
              <a:gs pos="70000">
                <a:srgbClr val="07142E"/>
              </a:gs>
            </a:gsLst>
            <a:path path="circle">
              <a:fillToRect l="50000" t="40000" r="50000" b="60000"/>
            </a:path>
          </a:gradFill>
          <a:ln/>
        </p:spPr>
      </p:sp>
      <p:sp>
        <p:nvSpPr>
          <p:cNvPr id="3" name="Text 1"/>
          <p:cNvSpPr/>
          <p:nvPr/>
        </p:nvSpPr>
        <p:spPr>
          <a:xfrm>
            <a:off x="812800" y="1270000"/>
            <a:ext cx="5232400"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IMAGINE</a:t>
            </a:r>
            <a:endParaRPr lang="en-US" sz="1300" dirty="0"/>
          </a:p>
        </p:txBody>
      </p:sp>
      <p:sp>
        <p:nvSpPr>
          <p:cNvPr id="4" name="Text 2"/>
          <p:cNvSpPr/>
          <p:nvPr/>
        </p:nvSpPr>
        <p:spPr>
          <a:xfrm>
            <a:off x="812800" y="1841500"/>
            <a:ext cx="10464800" cy="11430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EEF2F8"/>
                </a:solidFill>
                <a:latin typeface="Space Grotesk" pitchFamily="34" charset="0"/>
                <a:ea typeface="Space Grotesk" pitchFamily="34" charset="-122"/>
                <a:cs typeface="Space Grotesk" pitchFamily="34" charset="-120"/>
              </a:rPr>
              <a:t>What if a million rows could be represented by a thousand —</a:t>
            </a:r>
            <a:endParaRPr lang="en-US" sz="4000" dirty="0"/>
          </a:p>
        </p:txBody>
      </p:sp>
      <p:sp>
        <p:nvSpPr>
          <p:cNvPr id="5" name="Text 3"/>
          <p:cNvSpPr/>
          <p:nvPr/>
        </p:nvSpPr>
        <p:spPr>
          <a:xfrm>
            <a:off x="812800" y="3175000"/>
            <a:ext cx="1046480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5CC8FF"/>
                </a:solidFill>
                <a:latin typeface="Space Grotesk" pitchFamily="34" charset="0"/>
                <a:ea typeface="Space Grotesk" pitchFamily="34" charset="-122"/>
                <a:cs typeface="Space Grotesk" pitchFamily="34" charset="-120"/>
              </a:rPr>
              <a:t>…and still carry every pattern?</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2C5E"/>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22C5E"/>
              </a:gs>
              <a:gs pos="70000">
                <a:srgbClr val="07142E"/>
              </a:gs>
            </a:gsLst>
            <a:path path="circle">
              <a:fillToRect l="50000" t="40000" r="50000" b="60000"/>
            </a:path>
          </a:gradFill>
          <a:ln/>
        </p:spPr>
      </p:sp>
      <p:sp>
        <p:nvSpPr>
          <p:cNvPr id="3" name="Text 1"/>
          <p:cNvSpPr/>
          <p:nvPr/>
        </p:nvSpPr>
        <p:spPr>
          <a:xfrm>
            <a:off x="812800" y="1270000"/>
            <a:ext cx="5232400"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IMAGINE</a:t>
            </a:r>
            <a:endParaRPr lang="en-US" sz="1300" dirty="0"/>
          </a:p>
        </p:txBody>
      </p:sp>
      <p:sp>
        <p:nvSpPr>
          <p:cNvPr id="4" name="Text 2"/>
          <p:cNvSpPr/>
          <p:nvPr/>
        </p:nvSpPr>
        <p:spPr>
          <a:xfrm>
            <a:off x="812800" y="1841500"/>
            <a:ext cx="10464800" cy="11430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EEF2F8"/>
                </a:solidFill>
                <a:latin typeface="Space Grotesk" pitchFamily="34" charset="0"/>
                <a:ea typeface="Space Grotesk" pitchFamily="34" charset="-122"/>
                <a:cs typeface="Space Grotesk" pitchFamily="34" charset="-120"/>
              </a:rPr>
              <a:t>What if a million rows could be represented by a thousand —</a:t>
            </a:r>
            <a:endParaRPr lang="en-US" sz="4000" dirty="0"/>
          </a:p>
        </p:txBody>
      </p:sp>
      <p:sp>
        <p:nvSpPr>
          <p:cNvPr id="5" name="Text 3"/>
          <p:cNvSpPr/>
          <p:nvPr/>
        </p:nvSpPr>
        <p:spPr>
          <a:xfrm>
            <a:off x="812800" y="3175000"/>
            <a:ext cx="10464800" cy="5842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5CC8FF"/>
                </a:solidFill>
                <a:latin typeface="Space Grotesk" pitchFamily="34" charset="0"/>
                <a:ea typeface="Space Grotesk" pitchFamily="34" charset="-122"/>
                <a:cs typeface="Space Grotesk" pitchFamily="34" charset="-120"/>
              </a:rPr>
              <a:t>…and still carry every pattern?</a:t>
            </a:r>
            <a:endParaRPr lang="en-US" sz="4000" dirty="0"/>
          </a:p>
        </p:txBody>
      </p:sp>
      <p:sp>
        <p:nvSpPr>
          <p:cNvPr id="6" name="Text 4"/>
          <p:cNvSpPr/>
          <p:nvPr/>
        </p:nvSpPr>
        <p:spPr>
          <a:xfrm>
            <a:off x="812800" y="4191000"/>
            <a:ext cx="10464800" cy="1143000"/>
          </a:xfrm>
          <a:prstGeom prst="rect">
            <a:avLst/>
          </a:prstGeom>
          <a:noFill/>
          <a:ln/>
        </p:spPr>
        <p:txBody>
          <a:bodyPr wrap="square" lIns="0" tIns="0" rIns="0" bIns="0" rtlCol="0" anchor="t">
            <a:normAutofit/>
          </a:bodyPr>
          <a:lstStyle/>
          <a:p>
            <a:pPr algn="l" indent="0" marL="0">
              <a:lnSpc>
                <a:spcPts val="4400"/>
              </a:lnSpc>
              <a:buNone/>
            </a:pPr>
            <a:r>
              <a:rPr lang="en-US" sz="4000" b="1" dirty="0">
                <a:solidFill>
                  <a:srgbClr val="FFB547"/>
                </a:solidFill>
                <a:latin typeface="Space Grotesk" pitchFamily="34" charset="0"/>
                <a:ea typeface="Space Grotesk" pitchFamily="34" charset="-122"/>
                <a:cs typeface="Space Grotesk" pitchFamily="34" charset="-120"/>
              </a:rPr>
              <a:t>…plus every edge case and every outlier?</a:t>
            </a:r>
            <a:endParaRPr lang="en-US" sz="4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A3A"/>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0A1A3A"/>
              </a:gs>
              <a:gs pos="100000">
                <a:srgbClr val="10306A"/>
              </a:gs>
            </a:gsLst>
            <a:lin ang="2700000" scaled="0"/>
          </a:gradFill>
          <a:ln/>
        </p:spPr>
      </p:sp>
      <p:sp>
        <p:nvSpPr>
          <p:cNvPr id="3" name="Text 1"/>
          <p:cNvSpPr/>
          <p:nvPr/>
        </p:nvSpPr>
        <p:spPr>
          <a:xfrm>
            <a:off x="812800" y="1993968"/>
            <a:ext cx="5284724"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4C3DC"/>
                </a:solidFill>
                <a:latin typeface="IBM Plex Sans" pitchFamily="34" charset="0"/>
                <a:ea typeface="IBM Plex Sans" pitchFamily="34" charset="-122"/>
                <a:cs typeface="IBM Plex Sans" pitchFamily="34" charset="-120"/>
              </a:rPr>
              <a:t>If you're already picturing it —</a:t>
            </a:r>
            <a:endParaRPr lang="en-US" sz="1800" dirty="0"/>
          </a:p>
        </p:txBody>
      </p:sp>
      <p:sp>
        <p:nvSpPr>
          <p:cNvPr id="4" name="Text 2"/>
          <p:cNvSpPr/>
          <p:nvPr/>
        </p:nvSpPr>
        <p:spPr>
          <a:xfrm>
            <a:off x="812800" y="2542580"/>
            <a:ext cx="5284724" cy="838200"/>
          </a:xfrm>
          <a:prstGeom prst="rect">
            <a:avLst/>
          </a:prstGeom>
          <a:noFill/>
          <a:ln/>
        </p:spPr>
        <p:txBody>
          <a:bodyPr wrap="square" lIns="0" tIns="0" rIns="0" bIns="0" rtlCol="0" anchor="t">
            <a:normAutofit/>
          </a:bodyPr>
          <a:lstStyle/>
          <a:p>
            <a:pPr algn="l" indent="0" marL="0">
              <a:lnSpc>
                <a:spcPts val="6400"/>
              </a:lnSpc>
              <a:buNone/>
            </a:pPr>
            <a:r>
              <a:rPr lang="en-US" sz="6400" b="1" dirty="0">
                <a:solidFill>
                  <a:srgbClr val="EEF2F8"/>
                </a:solidFill>
                <a:latin typeface="Space Grotesk" pitchFamily="34" charset="0"/>
                <a:ea typeface="Space Grotesk" pitchFamily="34" charset="-122"/>
                <a:cs typeface="Space Grotesk" pitchFamily="34" charset="-120"/>
              </a:rPr>
              <a:t>we built it.</a:t>
            </a:r>
            <a:endParaRPr lang="en-US" sz="6400" dirty="0"/>
          </a:p>
        </p:txBody>
      </p:sp>
      <p:sp>
        <p:nvSpPr>
          <p:cNvPr id="5" name="Shape 3"/>
          <p:cNvSpPr/>
          <p:nvPr/>
        </p:nvSpPr>
        <p:spPr>
          <a:xfrm>
            <a:off x="812800" y="3583980"/>
            <a:ext cx="3935876" cy="462227"/>
          </a:xfrm>
          <a:prstGeom prst="roundRect">
            <a:avLst>
              <a:gd name="adj" fmla="val 50000"/>
            </a:avLst>
          </a:prstGeom>
          <a:solidFill>
            <a:srgbClr val="FFB547"/>
          </a:solidFill>
          <a:ln/>
        </p:spPr>
      </p:sp>
      <p:sp>
        <p:nvSpPr>
          <p:cNvPr id="6" name="Text 4"/>
          <p:cNvSpPr/>
          <p:nvPr/>
        </p:nvSpPr>
        <p:spPr>
          <a:xfrm>
            <a:off x="1016000" y="3672880"/>
            <a:ext cx="3635360" cy="309827"/>
          </a:xfrm>
          <a:prstGeom prst="rect">
            <a:avLst/>
          </a:prstGeom>
          <a:noFill/>
          <a:ln/>
        </p:spPr>
        <p:txBody>
          <a:bodyPr wrap="square" lIns="0" tIns="0" rIns="0" bIns="0" rtlCol="0" anchor="t">
            <a:normAutofit/>
          </a:bodyPr>
          <a:lstStyle/>
          <a:p>
            <a:pPr algn="l" indent="0" marL="0">
              <a:lnSpc>
                <a:spcPts val="2240"/>
              </a:lnSpc>
              <a:buNone/>
            </a:pPr>
            <a:r>
              <a:rPr lang="en-US" sz="1600" b="1" dirty="0">
                <a:solidFill>
                  <a:srgbClr val="07142E"/>
                </a:solidFill>
                <a:latin typeface="Space Grotesk" pitchFamily="34" charset="0"/>
                <a:ea typeface="Space Grotesk" pitchFamily="34" charset="-122"/>
                <a:cs typeface="Space Grotesk" pitchFamily="34" charset="-120"/>
              </a:rPr>
              <a:t>Smart Sampling · working prototype</a:t>
            </a:r>
            <a:endParaRPr lang="en-US" sz="1600" dirty="0"/>
          </a:p>
        </p:txBody>
      </p:sp>
      <p:sp>
        <p:nvSpPr>
          <p:cNvPr id="7" name="Text 5"/>
          <p:cNvSpPr/>
          <p:nvPr/>
        </p:nvSpPr>
        <p:spPr>
          <a:xfrm>
            <a:off x="812800" y="4274809"/>
            <a:ext cx="5284724" cy="614627"/>
          </a:xfrm>
          <a:prstGeom prst="rect">
            <a:avLst/>
          </a:prstGeom>
          <a:noFill/>
          <a:ln/>
        </p:spPr>
        <p:txBody>
          <a:bodyPr wrap="square" lIns="0" tIns="0" rIns="0" bIns="0" rtlCol="0" anchor="t">
            <a:normAutofit/>
          </a:bodyPr>
          <a:lstStyle/>
          <a:p>
            <a:pPr algn="l" indent="0" marL="0">
              <a:lnSpc>
                <a:spcPts val="2320"/>
              </a:lnSpc>
              <a:buNone/>
            </a:pPr>
            <a:r>
              <a:rPr lang="en-US" sz="1600" dirty="0">
                <a:solidFill>
                  <a:srgbClr val="B4C3DC"/>
                </a:solidFill>
                <a:latin typeface="IBM Plex Sans" pitchFamily="34" charset="0"/>
                <a:ea typeface="IBM Plex Sans" pitchFamily="34" charset="-122"/>
                <a:cs typeface="IBM Plex Sans" pitchFamily="34" charset="-120"/>
              </a:rPr>
              <a:t>Every ring is chosen with purpose: a few from every segment, and every outlier kept.</a:t>
            </a:r>
            <a:endParaRPr lang="en-US" sz="1600" dirty="0"/>
          </a:p>
        </p:txBody>
      </p:sp>
      <p:pic>
        <p:nvPicPr>
          <p:cNvPr id="8" name="Image 0" descr="A smart sample: a few picks from every segment plus every outlier">    </p:cNvPr>
          <p:cNvPicPr>
            <a:picLocks noChangeAspect="1"/>
          </p:cNvPicPr>
          <p:nvPr/>
        </p:nvPicPr>
        <p:blipFill>
          <a:blip r:embed="rId1"/>
          <a:srcRect l="0" r="0" t="0" b="0"/>
          <a:stretch/>
        </p:blipFill>
        <p:spPr>
          <a:xfrm>
            <a:off x="6553200" y="1524000"/>
            <a:ext cx="4826000" cy="3810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HOW IT WORKS · AN ML-POWERED PIPELINE</a:t>
            </a:r>
            <a:endParaRPr lang="en-US" sz="1300" dirty="0"/>
          </a:p>
        </p:txBody>
      </p:sp>
      <p:sp>
        <p:nvSpPr>
          <p:cNvPr id="3" name="Text 1"/>
          <p:cNvSpPr/>
          <p:nvPr/>
        </p:nvSpPr>
        <p:spPr>
          <a:xfrm>
            <a:off x="812800" y="1323315"/>
            <a:ext cx="10883392" cy="935699"/>
          </a:xfrm>
          <a:prstGeom prst="rect">
            <a:avLst/>
          </a:prstGeom>
          <a:noFill/>
          <a:ln/>
        </p:spPr>
        <p:txBody>
          <a:bodyPr wrap="square" lIns="0" tIns="0" rIns="0" bIns="0" rtlCol="0" anchor="t">
            <a:normAutofit/>
          </a:bodyPr>
          <a:lstStyle/>
          <a:p>
            <a:pPr algn="l" indent="0" marL="0">
              <a:lnSpc>
                <a:spcPts val="3584"/>
              </a:lnSpc>
              <a:buNone/>
            </a:pPr>
            <a:r>
              <a:rPr lang="en-US" sz="3200" b="1" dirty="0">
                <a:solidFill>
                  <a:srgbClr val="EEF2F8"/>
                </a:solidFill>
                <a:latin typeface="Space Grotesk" pitchFamily="34" charset="0"/>
                <a:ea typeface="Space Grotesk" pitchFamily="34" charset="-122"/>
                <a:cs typeface="Space Grotesk" pitchFamily="34" charset="-120"/>
              </a:rPr>
              <a:t>Four stages. Each one makes the data</a:t>
            </a:r>
            <a:endParaRPr lang="en-US" sz="3200" dirty="0"/>
          </a:p>
          <a:p>
            <a:pPr algn="l" indent="0" marL="0">
              <a:lnSpc>
                <a:spcPts val="3584"/>
              </a:lnSpc>
              <a:buNone/>
            </a:pPr>
            <a:r>
              <a:rPr lang="en-US" sz="3200" b="1" dirty="0">
                <a:solidFill>
                  <a:srgbClr val="EEF2F8"/>
                </a:solidFill>
                <a:latin typeface="Space Grotesk" pitchFamily="34" charset="0"/>
                <a:ea typeface="Space Grotesk" pitchFamily="34" charset="-122"/>
                <a:cs typeface="Space Grotesk" pitchFamily="34" charset="-120"/>
              </a:rPr>
              <a:t>smaller — and smarter.</a:t>
            </a:r>
            <a:endParaRPr lang="en-US" sz="3200" dirty="0"/>
          </a:p>
        </p:txBody>
      </p:sp>
      <p:sp>
        <p:nvSpPr>
          <p:cNvPr id="4" name="Shape 2"/>
          <p:cNvSpPr/>
          <p:nvPr/>
        </p:nvSpPr>
        <p:spPr>
          <a:xfrm>
            <a:off x="815975" y="2516188"/>
            <a:ext cx="2501900" cy="2658335"/>
          </a:xfrm>
          <a:prstGeom prst="roundRect">
            <a:avLst>
              <a:gd name="adj" fmla="val 3934"/>
            </a:avLst>
          </a:prstGeom>
          <a:solidFill>
            <a:srgbClr val="12264D"/>
          </a:solidFill>
          <a:ln w="6350">
            <a:solidFill>
              <a:srgbClr val="24407A"/>
            </a:solidFill>
            <a:prstDash val="solid"/>
          </a:ln>
        </p:spPr>
      </p:sp>
      <p:sp>
        <p:nvSpPr>
          <p:cNvPr id="5" name="Text 3"/>
          <p:cNvSpPr/>
          <p:nvPr/>
        </p:nvSpPr>
        <p:spPr>
          <a:xfrm>
            <a:off x="1096433" y="2796648"/>
            <a:ext cx="199921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B547"/>
                </a:solidFill>
                <a:latin typeface="Space Grotesk" pitchFamily="34" charset="0"/>
                <a:ea typeface="Space Grotesk" pitchFamily="34" charset="-122"/>
                <a:cs typeface="Space Grotesk" pitchFamily="34" charset="-120"/>
              </a:rPr>
              <a:t>01</a:t>
            </a:r>
            <a:endParaRPr lang="en-US" sz="1400" dirty="0"/>
          </a:p>
        </p:txBody>
      </p:sp>
      <p:sp>
        <p:nvSpPr>
          <p:cNvPr id="6" name="Text 4"/>
          <p:cNvSpPr/>
          <p:nvPr/>
        </p:nvSpPr>
        <p:spPr>
          <a:xfrm>
            <a:off x="1096433" y="3147154"/>
            <a:ext cx="199921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Profile</a:t>
            </a:r>
            <a:endParaRPr lang="en-US" sz="2200" dirty="0"/>
          </a:p>
        </p:txBody>
      </p:sp>
      <p:sp>
        <p:nvSpPr>
          <p:cNvPr id="7" name="Text 5"/>
          <p:cNvSpPr/>
          <p:nvPr/>
        </p:nvSpPr>
        <p:spPr>
          <a:xfrm>
            <a:off x="1096433" y="3583980"/>
            <a:ext cx="199921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4C3DC"/>
                </a:solidFill>
                <a:latin typeface="IBM Plex Sans" pitchFamily="34" charset="0"/>
                <a:ea typeface="IBM Plex Sans" pitchFamily="34" charset="-122"/>
                <a:cs typeface="IBM Plex Sans" pitchFamily="34" charset="-120"/>
              </a:rPr>
              <a:t>Check the data is healthy and ready to use.</a:t>
            </a:r>
            <a:endParaRPr lang="en-US" sz="1400" dirty="0"/>
          </a:p>
        </p:txBody>
      </p:sp>
      <p:sp>
        <p:nvSpPr>
          <p:cNvPr id="8" name="Shape 6"/>
          <p:cNvSpPr/>
          <p:nvPr/>
        </p:nvSpPr>
        <p:spPr>
          <a:xfrm>
            <a:off x="1099608" y="4563666"/>
            <a:ext cx="1571493" cy="327223"/>
          </a:xfrm>
          <a:prstGeom prst="roundRect">
            <a:avLst>
              <a:gd name="adj" fmla="val 22317"/>
            </a:avLst>
          </a:prstGeom>
          <a:solidFill>
            <a:srgbClr val="0A1A3A"/>
          </a:solidFill>
          <a:ln w="6350">
            <a:solidFill>
              <a:srgbClr val="24407A"/>
            </a:solidFill>
            <a:prstDash val="solid"/>
          </a:ln>
        </p:spPr>
      </p:sp>
      <p:sp>
        <p:nvSpPr>
          <p:cNvPr id="9" name="Text 7"/>
          <p:cNvSpPr/>
          <p:nvPr/>
        </p:nvSpPr>
        <p:spPr>
          <a:xfrm>
            <a:off x="1214967" y="4628224"/>
            <a:ext cx="1391576"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CC8FF"/>
                </a:solidFill>
                <a:latin typeface="IBM Plex Sans" pitchFamily="34" charset="0"/>
                <a:ea typeface="IBM Plex Sans" pitchFamily="34" charset="-122"/>
                <a:cs typeface="IBM Plex Sans" pitchFamily="34" charset="-120"/>
              </a:rPr>
              <a:t>Statistical profiling</a:t>
            </a:r>
            <a:endParaRPr lang="en-US" sz="1200" dirty="0"/>
          </a:p>
        </p:txBody>
      </p:sp>
      <p:sp>
        <p:nvSpPr>
          <p:cNvPr id="10" name="Shape 8"/>
          <p:cNvSpPr/>
          <p:nvPr/>
        </p:nvSpPr>
        <p:spPr>
          <a:xfrm>
            <a:off x="3502025" y="2516188"/>
            <a:ext cx="2501900" cy="2658335"/>
          </a:xfrm>
          <a:prstGeom prst="roundRect">
            <a:avLst>
              <a:gd name="adj" fmla="val 3934"/>
            </a:avLst>
          </a:prstGeom>
          <a:solidFill>
            <a:srgbClr val="12264D"/>
          </a:solidFill>
          <a:ln w="6350">
            <a:solidFill>
              <a:srgbClr val="24407A"/>
            </a:solidFill>
            <a:prstDash val="solid"/>
          </a:ln>
        </p:spPr>
      </p:sp>
      <p:sp>
        <p:nvSpPr>
          <p:cNvPr id="11" name="Text 9"/>
          <p:cNvSpPr/>
          <p:nvPr/>
        </p:nvSpPr>
        <p:spPr>
          <a:xfrm>
            <a:off x="3782483" y="2796648"/>
            <a:ext cx="199921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B547"/>
                </a:solidFill>
                <a:latin typeface="Space Grotesk" pitchFamily="34" charset="0"/>
                <a:ea typeface="Space Grotesk" pitchFamily="34" charset="-122"/>
                <a:cs typeface="Space Grotesk" pitchFamily="34" charset="-120"/>
              </a:rPr>
              <a:t>02</a:t>
            </a:r>
            <a:endParaRPr lang="en-US" sz="1400" dirty="0"/>
          </a:p>
        </p:txBody>
      </p:sp>
      <p:sp>
        <p:nvSpPr>
          <p:cNvPr id="12" name="Text 10"/>
          <p:cNvSpPr/>
          <p:nvPr/>
        </p:nvSpPr>
        <p:spPr>
          <a:xfrm>
            <a:off x="3782483" y="3147154"/>
            <a:ext cx="199921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Understand</a:t>
            </a:r>
            <a:endParaRPr lang="en-US" sz="2200" dirty="0"/>
          </a:p>
        </p:txBody>
      </p:sp>
      <p:sp>
        <p:nvSpPr>
          <p:cNvPr id="13" name="Text 11"/>
          <p:cNvSpPr/>
          <p:nvPr/>
        </p:nvSpPr>
        <p:spPr>
          <a:xfrm>
            <a:off x="3782483" y="3583980"/>
            <a:ext cx="1999213" cy="54094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4C3DC"/>
                </a:solidFill>
                <a:latin typeface="IBM Plex Sans" pitchFamily="34" charset="0"/>
                <a:ea typeface="IBM Plex Sans" pitchFamily="34" charset="-122"/>
                <a:cs typeface="IBM Plex Sans" pitchFamily="34" charset="-120"/>
              </a:rPr>
              <a:t>Find the features that really shape behavior.</a:t>
            </a:r>
            <a:endParaRPr lang="en-US" sz="1400" dirty="0"/>
          </a:p>
        </p:txBody>
      </p:sp>
      <p:sp>
        <p:nvSpPr>
          <p:cNvPr id="14" name="Shape 12"/>
          <p:cNvSpPr/>
          <p:nvPr/>
        </p:nvSpPr>
        <p:spPr>
          <a:xfrm>
            <a:off x="3785658" y="4365560"/>
            <a:ext cx="1934633" cy="525330"/>
          </a:xfrm>
          <a:prstGeom prst="roundRect">
            <a:avLst>
              <a:gd name="adj" fmla="val 13901"/>
            </a:avLst>
          </a:prstGeom>
          <a:solidFill>
            <a:srgbClr val="0A1A3A"/>
          </a:solidFill>
          <a:ln w="6350">
            <a:solidFill>
              <a:srgbClr val="24407A"/>
            </a:solidFill>
            <a:prstDash val="solid"/>
          </a:ln>
        </p:spPr>
      </p:sp>
      <p:sp>
        <p:nvSpPr>
          <p:cNvPr id="15" name="Text 13"/>
          <p:cNvSpPr/>
          <p:nvPr/>
        </p:nvSpPr>
        <p:spPr>
          <a:xfrm>
            <a:off x="3901017" y="4430118"/>
            <a:ext cx="1755034" cy="421614"/>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CC8FF"/>
                </a:solidFill>
                <a:latin typeface="IBM Plex Sans" pitchFamily="34" charset="0"/>
                <a:ea typeface="IBM Plex Sans" pitchFamily="34" charset="-122"/>
                <a:cs typeface="IBM Plex Sans" pitchFamily="34" charset="-120"/>
              </a:rPr>
              <a:t>Automated feature ranking</a:t>
            </a:r>
            <a:endParaRPr lang="en-US" sz="1200" dirty="0"/>
          </a:p>
        </p:txBody>
      </p:sp>
      <p:sp>
        <p:nvSpPr>
          <p:cNvPr id="16" name="Shape 14"/>
          <p:cNvSpPr/>
          <p:nvPr/>
        </p:nvSpPr>
        <p:spPr>
          <a:xfrm>
            <a:off x="6188075" y="2516188"/>
            <a:ext cx="2501900" cy="2658335"/>
          </a:xfrm>
          <a:prstGeom prst="roundRect">
            <a:avLst>
              <a:gd name="adj" fmla="val 3934"/>
            </a:avLst>
          </a:prstGeom>
          <a:solidFill>
            <a:srgbClr val="12264D"/>
          </a:solidFill>
          <a:ln w="6350">
            <a:solidFill>
              <a:srgbClr val="24407A"/>
            </a:solidFill>
            <a:prstDash val="solid"/>
          </a:ln>
        </p:spPr>
      </p:sp>
      <p:sp>
        <p:nvSpPr>
          <p:cNvPr id="17" name="Text 15"/>
          <p:cNvSpPr/>
          <p:nvPr/>
        </p:nvSpPr>
        <p:spPr>
          <a:xfrm>
            <a:off x="6468533" y="2796648"/>
            <a:ext cx="199921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B547"/>
                </a:solidFill>
                <a:latin typeface="Space Grotesk" pitchFamily="34" charset="0"/>
                <a:ea typeface="Space Grotesk" pitchFamily="34" charset="-122"/>
                <a:cs typeface="Space Grotesk" pitchFamily="34" charset="-120"/>
              </a:rPr>
              <a:t>03</a:t>
            </a:r>
            <a:endParaRPr lang="en-US" sz="1400" dirty="0"/>
          </a:p>
        </p:txBody>
      </p:sp>
      <p:sp>
        <p:nvSpPr>
          <p:cNvPr id="18" name="Text 16"/>
          <p:cNvSpPr/>
          <p:nvPr/>
        </p:nvSpPr>
        <p:spPr>
          <a:xfrm>
            <a:off x="6468533" y="3147154"/>
            <a:ext cx="199921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Protect</a:t>
            </a:r>
            <a:endParaRPr lang="en-US" sz="2200" dirty="0"/>
          </a:p>
        </p:txBody>
      </p:sp>
      <p:sp>
        <p:nvSpPr>
          <p:cNvPr id="19" name="Text 17"/>
          <p:cNvSpPr/>
          <p:nvPr/>
        </p:nvSpPr>
        <p:spPr>
          <a:xfrm>
            <a:off x="6468533" y="3583980"/>
            <a:ext cx="199921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4C3DC"/>
                </a:solidFill>
                <a:latin typeface="IBM Plex Sans" pitchFamily="34" charset="0"/>
                <a:ea typeface="IBM Plex Sans" pitchFamily="34" charset="-122"/>
                <a:cs typeface="IBM Plex Sans" pitchFamily="34" charset="-120"/>
              </a:rPr>
              <a:t>Lock in every edge case, then cover every segment.</a:t>
            </a:r>
            <a:endParaRPr lang="en-US" sz="1400" dirty="0"/>
          </a:p>
        </p:txBody>
      </p:sp>
      <p:sp>
        <p:nvSpPr>
          <p:cNvPr id="20" name="Shape 18"/>
          <p:cNvSpPr/>
          <p:nvPr/>
        </p:nvSpPr>
        <p:spPr>
          <a:xfrm>
            <a:off x="6471708" y="4563666"/>
            <a:ext cx="1781704" cy="327223"/>
          </a:xfrm>
          <a:prstGeom prst="roundRect">
            <a:avLst>
              <a:gd name="adj" fmla="val 22317"/>
            </a:avLst>
          </a:prstGeom>
          <a:solidFill>
            <a:srgbClr val="0A1A3A"/>
          </a:solidFill>
          <a:ln w="6350">
            <a:solidFill>
              <a:srgbClr val="24407A"/>
            </a:solidFill>
            <a:prstDash val="solid"/>
          </a:ln>
        </p:spPr>
      </p:sp>
      <p:sp>
        <p:nvSpPr>
          <p:cNvPr id="21" name="Text 19"/>
          <p:cNvSpPr/>
          <p:nvPr/>
        </p:nvSpPr>
        <p:spPr>
          <a:xfrm>
            <a:off x="6587067" y="4628224"/>
            <a:ext cx="1601788"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CC8FF"/>
                </a:solidFill>
                <a:latin typeface="IBM Plex Sans" pitchFamily="34" charset="0"/>
                <a:ea typeface="IBM Plex Sans" pitchFamily="34" charset="-122"/>
                <a:cs typeface="IBM Plex Sans" pitchFamily="34" charset="-120"/>
              </a:rPr>
              <a:t>ML anomaly detection</a:t>
            </a:r>
            <a:endParaRPr lang="en-US" sz="1200" dirty="0"/>
          </a:p>
        </p:txBody>
      </p:sp>
      <p:sp>
        <p:nvSpPr>
          <p:cNvPr id="22" name="Shape 20"/>
          <p:cNvSpPr/>
          <p:nvPr/>
        </p:nvSpPr>
        <p:spPr>
          <a:xfrm>
            <a:off x="8874125" y="2516188"/>
            <a:ext cx="2501900" cy="2658335"/>
          </a:xfrm>
          <a:prstGeom prst="roundRect">
            <a:avLst>
              <a:gd name="adj" fmla="val 3934"/>
            </a:avLst>
          </a:prstGeom>
          <a:solidFill>
            <a:srgbClr val="12264D"/>
          </a:solidFill>
          <a:ln w="6350">
            <a:solidFill>
              <a:srgbClr val="24407A"/>
            </a:solidFill>
            <a:prstDash val="solid"/>
          </a:ln>
        </p:spPr>
      </p:sp>
      <p:sp>
        <p:nvSpPr>
          <p:cNvPr id="23" name="Text 21"/>
          <p:cNvSpPr/>
          <p:nvPr/>
        </p:nvSpPr>
        <p:spPr>
          <a:xfrm>
            <a:off x="9154584" y="2796648"/>
            <a:ext cx="1999213" cy="274307"/>
          </a:xfrm>
          <a:prstGeom prst="rect">
            <a:avLst/>
          </a:prstGeom>
          <a:noFill/>
          <a:ln/>
        </p:spPr>
        <p:txBody>
          <a:bodyPr wrap="square" lIns="0" tIns="0" rIns="0" bIns="0" rtlCol="0" anchor="t">
            <a:normAutofit/>
          </a:bodyPr>
          <a:lstStyle/>
          <a:p>
            <a:pPr algn="l" indent="0" marL="0">
              <a:lnSpc>
                <a:spcPts val="1960"/>
              </a:lnSpc>
              <a:buNone/>
            </a:pPr>
            <a:r>
              <a:rPr lang="en-US" sz="1400" b="1" dirty="0">
                <a:solidFill>
                  <a:srgbClr val="FFB547"/>
                </a:solidFill>
                <a:latin typeface="Space Grotesk" pitchFamily="34" charset="0"/>
                <a:ea typeface="Space Grotesk" pitchFamily="34" charset="-122"/>
                <a:cs typeface="Space Grotesk" pitchFamily="34" charset="-120"/>
              </a:rPr>
              <a:t>04</a:t>
            </a:r>
            <a:endParaRPr lang="en-US" sz="1400" dirty="0"/>
          </a:p>
        </p:txBody>
      </p:sp>
      <p:sp>
        <p:nvSpPr>
          <p:cNvPr id="24" name="Text 22"/>
          <p:cNvSpPr/>
          <p:nvPr/>
        </p:nvSpPr>
        <p:spPr>
          <a:xfrm>
            <a:off x="9154584" y="3147154"/>
            <a:ext cx="1999213"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Select</a:t>
            </a:r>
            <a:endParaRPr lang="en-US" sz="2200" dirty="0"/>
          </a:p>
        </p:txBody>
      </p:sp>
      <p:sp>
        <p:nvSpPr>
          <p:cNvPr id="25" name="Text 23"/>
          <p:cNvSpPr/>
          <p:nvPr/>
        </p:nvSpPr>
        <p:spPr>
          <a:xfrm>
            <a:off x="9154584" y="3583980"/>
            <a:ext cx="1999213" cy="798711"/>
          </a:xfrm>
          <a:prstGeom prst="rect">
            <a:avLst/>
          </a:prstGeom>
          <a:noFill/>
          <a:ln/>
        </p:spPr>
        <p:txBody>
          <a:bodyPr wrap="square" lIns="0" tIns="0" rIns="0" bIns="0" rtlCol="0" anchor="t">
            <a:normAutofit/>
          </a:bodyPr>
          <a:lstStyle/>
          <a:p>
            <a:pPr algn="l" indent="0" marL="0">
              <a:lnSpc>
                <a:spcPts val="2030"/>
              </a:lnSpc>
              <a:buNone/>
            </a:pPr>
            <a:r>
              <a:rPr lang="en-US" sz="1400" dirty="0">
                <a:solidFill>
                  <a:srgbClr val="B4C3DC"/>
                </a:solidFill>
                <a:latin typeface="IBM Plex Sans" pitchFamily="34" charset="0"/>
                <a:ea typeface="IBM Plex Sans" pitchFamily="34" charset="-122"/>
                <a:cs typeface="IBM Plex Sans" pitchFamily="34" charset="-120"/>
              </a:rPr>
              <a:t>Cluster, then keep the few that speak for the many.</a:t>
            </a:r>
            <a:endParaRPr lang="en-US" sz="1400" dirty="0"/>
          </a:p>
        </p:txBody>
      </p:sp>
      <p:sp>
        <p:nvSpPr>
          <p:cNvPr id="26" name="Shape 24"/>
          <p:cNvSpPr/>
          <p:nvPr/>
        </p:nvSpPr>
        <p:spPr>
          <a:xfrm>
            <a:off x="9157759" y="4563666"/>
            <a:ext cx="1174022" cy="327223"/>
          </a:xfrm>
          <a:prstGeom prst="roundRect">
            <a:avLst>
              <a:gd name="adj" fmla="val 22317"/>
            </a:avLst>
          </a:prstGeom>
          <a:solidFill>
            <a:srgbClr val="0A1A3A"/>
          </a:solidFill>
          <a:ln w="6350">
            <a:solidFill>
              <a:srgbClr val="24407A"/>
            </a:solidFill>
            <a:prstDash val="solid"/>
          </a:ln>
        </p:spPr>
      </p:sp>
      <p:sp>
        <p:nvSpPr>
          <p:cNvPr id="27" name="Text 25"/>
          <p:cNvSpPr/>
          <p:nvPr/>
        </p:nvSpPr>
        <p:spPr>
          <a:xfrm>
            <a:off x="9273117" y="4628224"/>
            <a:ext cx="994106" cy="223507"/>
          </a:xfrm>
          <a:prstGeom prst="rect">
            <a:avLst/>
          </a:prstGeom>
          <a:noFill/>
          <a:ln/>
        </p:spPr>
        <p:txBody>
          <a:bodyPr wrap="square" lIns="0" tIns="0" rIns="0" bIns="0" rtlCol="0" anchor="t">
            <a:normAutofit/>
          </a:bodyPr>
          <a:lstStyle/>
          <a:p>
            <a:pPr algn="l" indent="0" marL="0">
              <a:lnSpc>
                <a:spcPts val="1560"/>
              </a:lnSpc>
              <a:buNone/>
            </a:pPr>
            <a:r>
              <a:rPr lang="en-US" sz="1200" b="1" dirty="0">
                <a:solidFill>
                  <a:srgbClr val="5CC8FF"/>
                </a:solidFill>
                <a:latin typeface="IBM Plex Sans" pitchFamily="34" charset="0"/>
                <a:ea typeface="IBM Plex Sans" pitchFamily="34" charset="-122"/>
                <a:cs typeface="IBM Plex Sans" pitchFamily="34" charset="-120"/>
              </a:rPr>
              <a:t>ML clustering</a:t>
            </a:r>
            <a:endParaRPr lang="en-US" sz="1200" dirty="0"/>
          </a:p>
        </p:txBody>
      </p:sp>
      <p:pic>
        <p:nvPicPr>
          <p:cNvPr id="28" name="Image 0" descr="Verified">    </p:cNvPr>
          <p:cNvPicPr>
            <a:picLocks noChangeAspect="1"/>
          </p:cNvPicPr>
          <p:nvPr/>
        </p:nvPicPr>
        <p:blipFill>
          <a:blip r:embed="rId1"/>
          <a:srcRect l="0" r="0" t="0" b="0"/>
          <a:stretch/>
        </p:blipFill>
        <p:spPr>
          <a:xfrm>
            <a:off x="812800" y="5457099"/>
            <a:ext cx="254000" cy="254000"/>
          </a:xfrm>
          <a:prstGeom prst="rect">
            <a:avLst/>
          </a:prstGeom>
        </p:spPr>
      </p:pic>
      <p:sp>
        <p:nvSpPr>
          <p:cNvPr id="29" name="Text 26"/>
          <p:cNvSpPr/>
          <p:nvPr/>
        </p:nvSpPr>
        <p:spPr>
          <a:xfrm>
            <a:off x="1193800" y="5459611"/>
            <a:ext cx="8950674"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Machine learning does the heavy lifting — no model to train or maintain. Same input, same output, every time.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142E"/>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PROOF, NOT A PROMISE</a:t>
            </a:r>
            <a:endParaRPr lang="en-US" sz="1300" dirty="0"/>
          </a:p>
        </p:txBody>
      </p:sp>
      <p:sp>
        <p:nvSpPr>
          <p:cNvPr id="3" name="Text 1"/>
          <p:cNvSpPr/>
          <p:nvPr/>
        </p:nvSpPr>
        <p:spPr>
          <a:xfrm>
            <a:off x="812800" y="1348715"/>
            <a:ext cx="10883392" cy="480549"/>
          </a:xfrm>
          <a:prstGeom prst="rect">
            <a:avLst/>
          </a:prstGeom>
          <a:noFill/>
          <a:ln/>
        </p:spPr>
        <p:txBody>
          <a:bodyPr wrap="square" lIns="0" tIns="0" rIns="0" bIns="0" rtlCol="0" anchor="t">
            <a:normAutofit/>
          </a:bodyPr>
          <a:lstStyle/>
          <a:p>
            <a:pPr algn="l" indent="0" marL="0">
              <a:lnSpc>
                <a:spcPts val="3584"/>
              </a:lnSpc>
              <a:buNone/>
            </a:pPr>
            <a:r>
              <a:rPr lang="en-US" sz="3200" b="1" dirty="0">
                <a:solidFill>
                  <a:srgbClr val="EEF2F8"/>
                </a:solidFill>
                <a:latin typeface="Space Grotesk" pitchFamily="34" charset="0"/>
                <a:ea typeface="Space Grotesk" pitchFamily="34" charset="-122"/>
                <a:cs typeface="Space Grotesk" pitchFamily="34" charset="-120"/>
              </a:rPr>
              <a:t>What the prototype delivered</a:t>
            </a:r>
            <a:endParaRPr lang="en-US" sz="3200" dirty="0"/>
          </a:p>
        </p:txBody>
      </p:sp>
      <p:sp>
        <p:nvSpPr>
          <p:cNvPr id="4" name="Shape 2"/>
          <p:cNvSpPr/>
          <p:nvPr/>
        </p:nvSpPr>
        <p:spPr>
          <a:xfrm>
            <a:off x="812800" y="2108665"/>
            <a:ext cx="2508250" cy="2146300"/>
          </a:xfrm>
          <a:prstGeom prst="roundRect">
            <a:avLst>
              <a:gd name="adj" fmla="val 4734"/>
            </a:avLst>
          </a:prstGeom>
          <a:solidFill>
            <a:srgbClr val="12264D"/>
          </a:solidFill>
          <a:ln/>
        </p:spPr>
      </p:sp>
      <p:sp>
        <p:nvSpPr>
          <p:cNvPr id="5" name="Text 3"/>
          <p:cNvSpPr/>
          <p:nvPr/>
        </p:nvSpPr>
        <p:spPr>
          <a:xfrm>
            <a:off x="1092200" y="2388065"/>
            <a:ext cx="2007933"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FB547"/>
                </a:solidFill>
                <a:latin typeface="Space Grotesk" pitchFamily="34" charset="0"/>
                <a:ea typeface="Space Grotesk" pitchFamily="34" charset="-122"/>
                <a:cs typeface="Space Grotesk" pitchFamily="34" charset="-120"/>
              </a:rPr>
              <a:t>60%</a:t>
            </a:r>
            <a:endParaRPr lang="en-US" sz="5600" dirty="0"/>
          </a:p>
        </p:txBody>
      </p:sp>
      <p:sp>
        <p:nvSpPr>
          <p:cNvPr id="6" name="Text 4"/>
          <p:cNvSpPr/>
          <p:nvPr/>
        </p:nvSpPr>
        <p:spPr>
          <a:xfrm>
            <a:off x="1092200" y="3175465"/>
            <a:ext cx="2007933"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C3DC"/>
                </a:solidFill>
                <a:latin typeface="IBM Plex Sans" pitchFamily="34" charset="0"/>
                <a:ea typeface="IBM Plex Sans" pitchFamily="34" charset="-122"/>
                <a:cs typeface="IBM Plex Sans" pitchFamily="34" charset="-120"/>
              </a:rPr>
              <a:t>smaller dataset — with nothing important lost</a:t>
            </a:r>
            <a:endParaRPr lang="en-US" sz="1500" dirty="0"/>
          </a:p>
        </p:txBody>
      </p:sp>
      <p:sp>
        <p:nvSpPr>
          <p:cNvPr id="7" name="Shape 5"/>
          <p:cNvSpPr/>
          <p:nvPr/>
        </p:nvSpPr>
        <p:spPr>
          <a:xfrm>
            <a:off x="3498850" y="2108665"/>
            <a:ext cx="2508250" cy="2146300"/>
          </a:xfrm>
          <a:prstGeom prst="roundRect">
            <a:avLst>
              <a:gd name="adj" fmla="val 4734"/>
            </a:avLst>
          </a:prstGeom>
          <a:solidFill>
            <a:srgbClr val="12264D"/>
          </a:solidFill>
          <a:ln/>
        </p:spPr>
      </p:sp>
      <p:sp>
        <p:nvSpPr>
          <p:cNvPr id="8" name="Text 6"/>
          <p:cNvSpPr/>
          <p:nvPr/>
        </p:nvSpPr>
        <p:spPr>
          <a:xfrm>
            <a:off x="3778250" y="2388065"/>
            <a:ext cx="2007933"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5CC8FF"/>
                </a:solidFill>
                <a:latin typeface="Space Grotesk" pitchFamily="34" charset="0"/>
                <a:ea typeface="Space Grotesk" pitchFamily="34" charset="-122"/>
                <a:cs typeface="Space Grotesk" pitchFamily="34" charset="-120"/>
              </a:rPr>
              <a:t>100%</a:t>
            </a:r>
            <a:endParaRPr lang="en-US" sz="5600" dirty="0"/>
          </a:p>
        </p:txBody>
      </p:sp>
      <p:sp>
        <p:nvSpPr>
          <p:cNvPr id="9" name="Text 7"/>
          <p:cNvSpPr/>
          <p:nvPr/>
        </p:nvSpPr>
        <p:spPr>
          <a:xfrm>
            <a:off x="3778250" y="3175465"/>
            <a:ext cx="200793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C3DC"/>
                </a:solidFill>
                <a:latin typeface="IBM Plex Sans" pitchFamily="34" charset="0"/>
                <a:ea typeface="IBM Plex Sans" pitchFamily="34" charset="-122"/>
                <a:cs typeface="IBM Plex Sans" pitchFamily="34" charset="-120"/>
              </a:rPr>
              <a:t>of behavioral signatures still covered</a:t>
            </a:r>
            <a:endParaRPr lang="en-US" sz="1500" dirty="0"/>
          </a:p>
        </p:txBody>
      </p:sp>
      <p:sp>
        <p:nvSpPr>
          <p:cNvPr id="10" name="Shape 8"/>
          <p:cNvSpPr/>
          <p:nvPr/>
        </p:nvSpPr>
        <p:spPr>
          <a:xfrm>
            <a:off x="6184900" y="2108665"/>
            <a:ext cx="2508250" cy="2146300"/>
          </a:xfrm>
          <a:prstGeom prst="roundRect">
            <a:avLst>
              <a:gd name="adj" fmla="val 4734"/>
            </a:avLst>
          </a:prstGeom>
          <a:solidFill>
            <a:srgbClr val="12264D"/>
          </a:solidFill>
          <a:ln/>
        </p:spPr>
      </p:sp>
      <p:sp>
        <p:nvSpPr>
          <p:cNvPr id="11" name="Text 9"/>
          <p:cNvSpPr/>
          <p:nvPr/>
        </p:nvSpPr>
        <p:spPr>
          <a:xfrm>
            <a:off x="6464300" y="2388065"/>
            <a:ext cx="2007933"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FFB547"/>
                </a:solidFill>
                <a:latin typeface="Space Grotesk" pitchFamily="34" charset="0"/>
                <a:ea typeface="Space Grotesk" pitchFamily="34" charset="-122"/>
                <a:cs typeface="Space Grotesk" pitchFamily="34" charset="-120"/>
              </a:rPr>
              <a:t>100%</a:t>
            </a:r>
            <a:endParaRPr lang="en-US" sz="5600" dirty="0"/>
          </a:p>
        </p:txBody>
      </p:sp>
      <p:sp>
        <p:nvSpPr>
          <p:cNvPr id="12" name="Text 10"/>
          <p:cNvSpPr/>
          <p:nvPr/>
        </p:nvSpPr>
        <p:spPr>
          <a:xfrm>
            <a:off x="6464300" y="3175465"/>
            <a:ext cx="200793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C3DC"/>
                </a:solidFill>
                <a:latin typeface="IBM Plex Sans" pitchFamily="34" charset="0"/>
                <a:ea typeface="IBM Plex Sans" pitchFamily="34" charset="-122"/>
                <a:cs typeface="IBM Plex Sans" pitchFamily="34" charset="-120"/>
              </a:rPr>
              <a:t>of edge cases and outliers found and kept</a:t>
            </a:r>
            <a:endParaRPr lang="en-US" sz="1500" dirty="0"/>
          </a:p>
        </p:txBody>
      </p:sp>
      <p:sp>
        <p:nvSpPr>
          <p:cNvPr id="13" name="Shape 11"/>
          <p:cNvSpPr/>
          <p:nvPr/>
        </p:nvSpPr>
        <p:spPr>
          <a:xfrm>
            <a:off x="8870950" y="2108665"/>
            <a:ext cx="2508250" cy="2146300"/>
          </a:xfrm>
          <a:prstGeom prst="roundRect">
            <a:avLst>
              <a:gd name="adj" fmla="val 4734"/>
            </a:avLst>
          </a:prstGeom>
          <a:solidFill>
            <a:srgbClr val="12264D"/>
          </a:solidFill>
          <a:ln/>
        </p:spPr>
      </p:sp>
      <p:sp>
        <p:nvSpPr>
          <p:cNvPr id="14" name="Text 12"/>
          <p:cNvSpPr/>
          <p:nvPr/>
        </p:nvSpPr>
        <p:spPr>
          <a:xfrm>
            <a:off x="9150350" y="2388065"/>
            <a:ext cx="2007933" cy="736600"/>
          </a:xfrm>
          <a:prstGeom prst="rect">
            <a:avLst/>
          </a:prstGeom>
          <a:noFill/>
          <a:ln/>
        </p:spPr>
        <p:txBody>
          <a:bodyPr wrap="square" lIns="0" tIns="0" rIns="0" bIns="0" rtlCol="0" anchor="t">
            <a:normAutofit/>
          </a:bodyPr>
          <a:lstStyle/>
          <a:p>
            <a:pPr algn="l" indent="0" marL="0">
              <a:lnSpc>
                <a:spcPts val="5600"/>
              </a:lnSpc>
              <a:buNone/>
            </a:pPr>
            <a:r>
              <a:rPr lang="en-US" sz="5600" b="1" dirty="0">
                <a:solidFill>
                  <a:srgbClr val="5CC8FF"/>
                </a:solidFill>
                <a:latin typeface="Space Grotesk" pitchFamily="34" charset="0"/>
                <a:ea typeface="Space Grotesk" pitchFamily="34" charset="-122"/>
                <a:cs typeface="Space Grotesk" pitchFamily="34" charset="-120"/>
              </a:rPr>
              <a:t>97%</a:t>
            </a:r>
            <a:endParaRPr lang="en-US" sz="5600" dirty="0"/>
          </a:p>
        </p:txBody>
      </p:sp>
      <p:sp>
        <p:nvSpPr>
          <p:cNvPr id="15" name="Text 13"/>
          <p:cNvSpPr/>
          <p:nvPr/>
        </p:nvSpPr>
        <p:spPr>
          <a:xfrm>
            <a:off x="9150350" y="3175465"/>
            <a:ext cx="2007933" cy="8255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B4C3DC"/>
                </a:solidFill>
                <a:latin typeface="IBM Plex Sans" pitchFamily="34" charset="0"/>
                <a:ea typeface="IBM Plex Sans" pitchFamily="34" charset="-122"/>
                <a:cs typeface="IBM Plex Sans" pitchFamily="34" charset="-120"/>
              </a:rPr>
              <a:t>data quality score before sampling begins</a:t>
            </a:r>
            <a:endParaRPr lang="en-US" sz="1500" dirty="0"/>
          </a:p>
        </p:txBody>
      </p:sp>
      <p:sp>
        <p:nvSpPr>
          <p:cNvPr id="16" name="Text 14"/>
          <p:cNvSpPr/>
          <p:nvPr/>
        </p:nvSpPr>
        <p:spPr>
          <a:xfrm>
            <a:off x="812800" y="62382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3DC"/>
                </a:solidFill>
                <a:latin typeface="IBM Plex Sans" pitchFamily="34" charset="0"/>
                <a:ea typeface="IBM Plex Sans" pitchFamily="34" charset="-122"/>
                <a:cs typeface="IBM Plex Sans" pitchFamily="34" charset="-120"/>
              </a:rPr>
              <a:t>Prototype run. The pipeline processes data in chunks, so it is built to scale with volume.</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WHERE IT HELPS</a:t>
            </a:r>
            <a:endParaRPr lang="en-US" sz="1300" dirty="0"/>
          </a:p>
        </p:txBody>
      </p:sp>
      <p:sp>
        <p:nvSpPr>
          <p:cNvPr id="3" name="Text 1"/>
          <p:cNvSpPr/>
          <p:nvPr/>
        </p:nvSpPr>
        <p:spPr>
          <a:xfrm>
            <a:off x="812800" y="1348718"/>
            <a:ext cx="10883392" cy="480549"/>
          </a:xfrm>
          <a:prstGeom prst="rect">
            <a:avLst/>
          </a:prstGeom>
          <a:noFill/>
          <a:ln/>
        </p:spPr>
        <p:txBody>
          <a:bodyPr wrap="square" lIns="0" tIns="0" rIns="0" bIns="0" rtlCol="0" anchor="t">
            <a:normAutofit/>
          </a:bodyPr>
          <a:lstStyle/>
          <a:p>
            <a:pPr algn="l" indent="0" marL="0">
              <a:lnSpc>
                <a:spcPts val="3584"/>
              </a:lnSpc>
              <a:buNone/>
            </a:pPr>
            <a:r>
              <a:rPr lang="en-US" sz="3200" b="1" dirty="0">
                <a:solidFill>
                  <a:srgbClr val="EEF2F8"/>
                </a:solidFill>
                <a:latin typeface="Space Grotesk" pitchFamily="34" charset="0"/>
                <a:ea typeface="Space Grotesk" pitchFamily="34" charset="-122"/>
                <a:cs typeface="Space Grotesk" pitchFamily="34" charset="-120"/>
              </a:rPr>
              <a:t>One tool. Five places it pays off.</a:t>
            </a:r>
            <a:endParaRPr lang="en-US" sz="3200" dirty="0"/>
          </a:p>
        </p:txBody>
      </p:sp>
      <p:sp>
        <p:nvSpPr>
          <p:cNvPr id="4" name="Shape 2"/>
          <p:cNvSpPr/>
          <p:nvPr/>
        </p:nvSpPr>
        <p:spPr>
          <a:xfrm>
            <a:off x="812800" y="2108665"/>
            <a:ext cx="1991320" cy="2444618"/>
          </a:xfrm>
          <a:prstGeom prst="roundRect">
            <a:avLst>
              <a:gd name="adj" fmla="val 5102"/>
            </a:avLst>
          </a:prstGeom>
          <a:solidFill>
            <a:srgbClr val="12264D"/>
          </a:solidFill>
          <a:ln/>
        </p:spPr>
      </p:sp>
      <p:pic>
        <p:nvPicPr>
          <p:cNvPr id="5" name="Image 0" descr="CheckCircle">    </p:cNvPr>
          <p:cNvPicPr>
            <a:picLocks noChangeAspect="1"/>
          </p:cNvPicPr>
          <p:nvPr/>
        </p:nvPicPr>
        <p:blipFill>
          <a:blip r:embed="rId1"/>
          <a:srcRect l="0" r="0" t="0" b="0"/>
          <a:stretch/>
        </p:blipFill>
        <p:spPr>
          <a:xfrm>
            <a:off x="1041400" y="2337265"/>
            <a:ext cx="304800" cy="304800"/>
          </a:xfrm>
          <a:prstGeom prst="rect">
            <a:avLst/>
          </a:prstGeom>
        </p:spPr>
      </p:pic>
      <p:sp>
        <p:nvSpPr>
          <p:cNvPr id="6" name="Text 3"/>
          <p:cNvSpPr/>
          <p:nvPr/>
        </p:nvSpPr>
        <p:spPr>
          <a:xfrm>
            <a:off x="1041400" y="2756365"/>
            <a:ext cx="1584920" cy="521891"/>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EEF2F8"/>
                </a:solidFill>
                <a:latin typeface="Space Grotesk" pitchFamily="34" charset="0"/>
                <a:ea typeface="Space Grotesk" pitchFamily="34" charset="-122"/>
                <a:cs typeface="Space Grotesk" pitchFamily="34" charset="-120"/>
              </a:rPr>
              <a:t>Regression testing</a:t>
            </a:r>
            <a:endParaRPr lang="en-US" sz="1700" dirty="0"/>
          </a:p>
        </p:txBody>
      </p:sp>
      <p:sp>
        <p:nvSpPr>
          <p:cNvPr id="7" name="Text 4"/>
          <p:cNvSpPr/>
          <p:nvPr/>
        </p:nvSpPr>
        <p:spPr>
          <a:xfrm>
            <a:off x="1041400" y="3367156"/>
            <a:ext cx="1584920"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C3DC"/>
                </a:solidFill>
                <a:latin typeface="IBM Plex Sans" pitchFamily="34" charset="0"/>
                <a:ea typeface="IBM Plex Sans" pitchFamily="34" charset="-122"/>
                <a:cs typeface="IBM Plex Sans" pitchFamily="34" charset="-120"/>
              </a:rPr>
              <a:t>Test on a small slice with full coverage. Faster runs, same confidence.</a:t>
            </a:r>
            <a:endParaRPr lang="en-US" sz="1300" dirty="0"/>
          </a:p>
        </p:txBody>
      </p:sp>
      <p:sp>
        <p:nvSpPr>
          <p:cNvPr id="8" name="Shape 5"/>
          <p:cNvSpPr/>
          <p:nvPr/>
        </p:nvSpPr>
        <p:spPr>
          <a:xfrm>
            <a:off x="2956520" y="2108665"/>
            <a:ext cx="1991387" cy="2444618"/>
          </a:xfrm>
          <a:prstGeom prst="roundRect">
            <a:avLst>
              <a:gd name="adj" fmla="val 5102"/>
            </a:avLst>
          </a:prstGeom>
          <a:solidFill>
            <a:srgbClr val="12264D"/>
          </a:solidFill>
          <a:ln/>
        </p:spPr>
      </p:sp>
      <p:pic>
        <p:nvPicPr>
          <p:cNvPr id="9" name="Image 1" descr="Lightbulb">    </p:cNvPr>
          <p:cNvPicPr>
            <a:picLocks noChangeAspect="1"/>
          </p:cNvPicPr>
          <p:nvPr/>
        </p:nvPicPr>
        <p:blipFill>
          <a:blip r:embed="rId2"/>
          <a:srcRect l="0" r="0" t="0" b="0"/>
          <a:stretch/>
        </p:blipFill>
        <p:spPr>
          <a:xfrm>
            <a:off x="3185120" y="2337265"/>
            <a:ext cx="304800" cy="304800"/>
          </a:xfrm>
          <a:prstGeom prst="rect">
            <a:avLst/>
          </a:prstGeom>
        </p:spPr>
      </p:pic>
      <p:sp>
        <p:nvSpPr>
          <p:cNvPr id="10" name="Text 6"/>
          <p:cNvSpPr/>
          <p:nvPr/>
        </p:nvSpPr>
        <p:spPr>
          <a:xfrm>
            <a:off x="3185120" y="2756365"/>
            <a:ext cx="1584986" cy="273645"/>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EEF2F8"/>
                </a:solidFill>
                <a:latin typeface="Space Grotesk" pitchFamily="34" charset="0"/>
                <a:ea typeface="Space Grotesk" pitchFamily="34" charset="-122"/>
                <a:cs typeface="Space Grotesk" pitchFamily="34" charset="-120"/>
              </a:rPr>
              <a:t>ML training</a:t>
            </a:r>
            <a:endParaRPr lang="en-US" sz="1700" dirty="0"/>
          </a:p>
        </p:txBody>
      </p:sp>
      <p:sp>
        <p:nvSpPr>
          <p:cNvPr id="11" name="Text 7"/>
          <p:cNvSpPr/>
          <p:nvPr/>
        </p:nvSpPr>
        <p:spPr>
          <a:xfrm>
            <a:off x="3185120" y="3118910"/>
            <a:ext cx="1584986"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C3DC"/>
                </a:solidFill>
                <a:latin typeface="IBM Plex Sans" pitchFamily="34" charset="0"/>
                <a:ea typeface="IBM Plex Sans" pitchFamily="34" charset="-122"/>
                <a:cs typeface="IBM Plex Sans" pitchFamily="34" charset="-120"/>
              </a:rPr>
              <a:t>Training sets that keep the rare cases models usually miss.</a:t>
            </a:r>
            <a:endParaRPr lang="en-US" sz="1300" dirty="0"/>
          </a:p>
        </p:txBody>
      </p:sp>
      <p:sp>
        <p:nvSpPr>
          <p:cNvPr id="12" name="Shape 8"/>
          <p:cNvSpPr/>
          <p:nvPr/>
        </p:nvSpPr>
        <p:spPr>
          <a:xfrm>
            <a:off x="5100307" y="2108665"/>
            <a:ext cx="1991320" cy="2444618"/>
          </a:xfrm>
          <a:prstGeom prst="roundRect">
            <a:avLst>
              <a:gd name="adj" fmla="val 5102"/>
            </a:avLst>
          </a:prstGeom>
          <a:solidFill>
            <a:srgbClr val="12264D"/>
          </a:solidFill>
          <a:ln/>
        </p:spPr>
      </p:sp>
      <p:pic>
        <p:nvPicPr>
          <p:cNvPr id="13" name="Image 2" descr="Database">    </p:cNvPr>
          <p:cNvPicPr>
            <a:picLocks noChangeAspect="1"/>
          </p:cNvPicPr>
          <p:nvPr/>
        </p:nvPicPr>
        <p:blipFill>
          <a:blip r:embed="rId3"/>
          <a:srcRect l="0" r="0" t="0" b="0"/>
          <a:stretch/>
        </p:blipFill>
        <p:spPr>
          <a:xfrm>
            <a:off x="5328907" y="2337265"/>
            <a:ext cx="304800" cy="304800"/>
          </a:xfrm>
          <a:prstGeom prst="rect">
            <a:avLst/>
          </a:prstGeom>
        </p:spPr>
      </p:pic>
      <p:sp>
        <p:nvSpPr>
          <p:cNvPr id="14" name="Text 9"/>
          <p:cNvSpPr/>
          <p:nvPr/>
        </p:nvSpPr>
        <p:spPr>
          <a:xfrm>
            <a:off x="5328907" y="2756365"/>
            <a:ext cx="1584920" cy="521891"/>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EEF2F8"/>
                </a:solidFill>
                <a:latin typeface="Space Grotesk" pitchFamily="34" charset="0"/>
                <a:ea typeface="Space Grotesk" pitchFamily="34" charset="-122"/>
                <a:cs typeface="Space Grotesk" pitchFamily="34" charset="-120"/>
              </a:rPr>
              <a:t>Migration checks</a:t>
            </a:r>
            <a:endParaRPr lang="en-US" sz="1700" dirty="0"/>
          </a:p>
        </p:txBody>
      </p:sp>
      <p:sp>
        <p:nvSpPr>
          <p:cNvPr id="15" name="Text 10"/>
          <p:cNvSpPr/>
          <p:nvPr/>
        </p:nvSpPr>
        <p:spPr>
          <a:xfrm>
            <a:off x="5328907" y="3367156"/>
            <a:ext cx="1584920"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C3DC"/>
                </a:solidFill>
                <a:latin typeface="IBM Plex Sans" pitchFamily="34" charset="0"/>
                <a:ea typeface="IBM Plex Sans" pitchFamily="34" charset="-122"/>
                <a:cs typeface="IBM Plex Sans" pitchFamily="34" charset="-120"/>
              </a:rPr>
              <a:t>Compare source and target statistically before go-live.</a:t>
            </a:r>
            <a:endParaRPr lang="en-US" sz="1300" dirty="0"/>
          </a:p>
        </p:txBody>
      </p:sp>
      <p:sp>
        <p:nvSpPr>
          <p:cNvPr id="16" name="Shape 11"/>
          <p:cNvSpPr/>
          <p:nvPr/>
        </p:nvSpPr>
        <p:spPr>
          <a:xfrm>
            <a:off x="7244028" y="2108665"/>
            <a:ext cx="1991387" cy="2444618"/>
          </a:xfrm>
          <a:prstGeom prst="roundRect">
            <a:avLst>
              <a:gd name="adj" fmla="val 5102"/>
            </a:avLst>
          </a:prstGeom>
          <a:solidFill>
            <a:srgbClr val="12264D"/>
          </a:solidFill>
          <a:ln/>
        </p:spPr>
      </p:sp>
      <p:pic>
        <p:nvPicPr>
          <p:cNvPr id="17" name="Image 3" descr="Activity">    </p:cNvPr>
          <p:cNvPicPr>
            <a:picLocks noChangeAspect="1"/>
          </p:cNvPicPr>
          <p:nvPr/>
        </p:nvPicPr>
        <p:blipFill>
          <a:blip r:embed="rId4"/>
          <a:srcRect l="0" r="0" t="0" b="0"/>
          <a:stretch/>
        </p:blipFill>
        <p:spPr>
          <a:xfrm>
            <a:off x="7472628" y="2337265"/>
            <a:ext cx="304800" cy="304800"/>
          </a:xfrm>
          <a:prstGeom prst="rect">
            <a:avLst/>
          </a:prstGeom>
        </p:spPr>
      </p:pic>
      <p:sp>
        <p:nvSpPr>
          <p:cNvPr id="18" name="Text 12"/>
          <p:cNvSpPr/>
          <p:nvPr/>
        </p:nvSpPr>
        <p:spPr>
          <a:xfrm>
            <a:off x="7472628" y="2756365"/>
            <a:ext cx="1584986" cy="521891"/>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EEF2F8"/>
                </a:solidFill>
                <a:latin typeface="Space Grotesk" pitchFamily="34" charset="0"/>
                <a:ea typeface="Space Grotesk" pitchFamily="34" charset="-122"/>
                <a:cs typeface="Space Grotesk" pitchFamily="34" charset="-120"/>
              </a:rPr>
              <a:t>Production monitoring</a:t>
            </a:r>
            <a:endParaRPr lang="en-US" sz="1700" dirty="0"/>
          </a:p>
        </p:txBody>
      </p:sp>
      <p:sp>
        <p:nvSpPr>
          <p:cNvPr id="19" name="Text 13"/>
          <p:cNvSpPr/>
          <p:nvPr/>
        </p:nvSpPr>
        <p:spPr>
          <a:xfrm>
            <a:off x="7472628" y="3367156"/>
            <a:ext cx="1584986" cy="74354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C3DC"/>
                </a:solidFill>
                <a:latin typeface="IBM Plex Sans" pitchFamily="34" charset="0"/>
                <a:ea typeface="IBM Plex Sans" pitchFamily="34" charset="-122"/>
                <a:cs typeface="IBM Plex Sans" pitchFamily="34" charset="-120"/>
              </a:rPr>
              <a:t>Consistent samples over time to spot drift early.</a:t>
            </a:r>
            <a:endParaRPr lang="en-US" sz="1300" dirty="0"/>
          </a:p>
        </p:txBody>
      </p:sp>
      <p:sp>
        <p:nvSpPr>
          <p:cNvPr id="20" name="Shape 14"/>
          <p:cNvSpPr/>
          <p:nvPr/>
        </p:nvSpPr>
        <p:spPr>
          <a:xfrm>
            <a:off x="9387814" y="2108665"/>
            <a:ext cx="1991387" cy="2444618"/>
          </a:xfrm>
          <a:prstGeom prst="roundRect">
            <a:avLst>
              <a:gd name="adj" fmla="val 5102"/>
            </a:avLst>
          </a:prstGeom>
          <a:solidFill>
            <a:srgbClr val="12264D"/>
          </a:solidFill>
          <a:ln/>
        </p:spPr>
      </p:sp>
      <p:pic>
        <p:nvPicPr>
          <p:cNvPr id="21" name="Image 4" descr="Tool">    </p:cNvPr>
          <p:cNvPicPr>
            <a:picLocks noChangeAspect="1"/>
          </p:cNvPicPr>
          <p:nvPr/>
        </p:nvPicPr>
        <p:blipFill>
          <a:blip r:embed="rId5"/>
          <a:srcRect l="0" r="0" t="0" b="0"/>
          <a:stretch/>
        </p:blipFill>
        <p:spPr>
          <a:xfrm>
            <a:off x="9616414" y="2337265"/>
            <a:ext cx="304800" cy="304800"/>
          </a:xfrm>
          <a:prstGeom prst="rect">
            <a:avLst/>
          </a:prstGeom>
        </p:spPr>
      </p:pic>
      <p:sp>
        <p:nvSpPr>
          <p:cNvPr id="22" name="Text 15"/>
          <p:cNvSpPr/>
          <p:nvPr/>
        </p:nvSpPr>
        <p:spPr>
          <a:xfrm>
            <a:off x="9616414" y="2756365"/>
            <a:ext cx="1584986" cy="521891"/>
          </a:xfrm>
          <a:prstGeom prst="rect">
            <a:avLst/>
          </a:prstGeom>
          <a:noFill/>
          <a:ln/>
        </p:spPr>
        <p:txBody>
          <a:bodyPr wrap="square" lIns="0" tIns="0" rIns="0" bIns="0" rtlCol="0" anchor="t">
            <a:normAutofit/>
          </a:bodyPr>
          <a:lstStyle/>
          <a:p>
            <a:pPr algn="l" indent="0" marL="0">
              <a:lnSpc>
                <a:spcPts val="1955"/>
              </a:lnSpc>
              <a:buNone/>
            </a:pPr>
            <a:r>
              <a:rPr lang="en-US" sz="1700" b="1" dirty="0">
                <a:solidFill>
                  <a:srgbClr val="EEF2F8"/>
                </a:solidFill>
                <a:latin typeface="Space Grotesk" pitchFamily="34" charset="0"/>
                <a:ea typeface="Space Grotesk" pitchFamily="34" charset="-122"/>
                <a:cs typeface="Space Grotesk" pitchFamily="34" charset="-120"/>
              </a:rPr>
              <a:t>Synthetic data</a:t>
            </a:r>
            <a:endParaRPr lang="en-US" sz="1700" dirty="0"/>
          </a:p>
        </p:txBody>
      </p:sp>
      <p:sp>
        <p:nvSpPr>
          <p:cNvPr id="23" name="Text 16"/>
          <p:cNvSpPr/>
          <p:nvPr/>
        </p:nvSpPr>
        <p:spPr>
          <a:xfrm>
            <a:off x="9616414" y="3367156"/>
            <a:ext cx="1584986" cy="982927"/>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4C3DC"/>
                </a:solidFill>
                <a:latin typeface="IBM Plex Sans" pitchFamily="34" charset="0"/>
                <a:ea typeface="IBM Plex Sans" pitchFamily="34" charset="-122"/>
                <a:cs typeface="IBM Plex Sans" pitchFamily="34" charset="-120"/>
              </a:rPr>
              <a:t>Each segment becomes a template for realistic test data.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A3A"/>
        </a:solidFill>
      </p:bgPr>
    </p:bg>
    <p:spTree>
      <p:nvGrpSpPr>
        <p:cNvPr id="1" name=""/>
        <p:cNvGrpSpPr/>
        <p:nvPr/>
      </p:nvGrpSpPr>
      <p:grpSpPr>
        <a:xfrm>
          <a:off x="0" y="0"/>
          <a:ext cx="0" cy="0"/>
          <a:chOff x="0" y="0"/>
          <a:chExt cx="0" cy="0"/>
        </a:xfrm>
      </p:grpSpPr>
      <p:sp>
        <p:nvSpPr>
          <p:cNvPr id="2" name="Text 0"/>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WHERE IT IS GOING</a:t>
            </a:r>
            <a:endParaRPr lang="en-US" sz="1300" dirty="0"/>
          </a:p>
        </p:txBody>
      </p:sp>
      <p:sp>
        <p:nvSpPr>
          <p:cNvPr id="3" name="Text 1"/>
          <p:cNvSpPr/>
          <p:nvPr/>
        </p:nvSpPr>
        <p:spPr>
          <a:xfrm>
            <a:off x="812800" y="1348718"/>
            <a:ext cx="10883392" cy="935699"/>
          </a:xfrm>
          <a:prstGeom prst="rect">
            <a:avLst/>
          </a:prstGeom>
          <a:noFill/>
          <a:ln/>
        </p:spPr>
        <p:txBody>
          <a:bodyPr wrap="square" lIns="0" tIns="0" rIns="0" bIns="0" rtlCol="0" anchor="t">
            <a:normAutofit/>
          </a:bodyPr>
          <a:lstStyle/>
          <a:p>
            <a:pPr algn="l" indent="0" marL="0">
              <a:lnSpc>
                <a:spcPts val="3584"/>
              </a:lnSpc>
              <a:buNone/>
            </a:pPr>
            <a:r>
              <a:rPr lang="en-US" sz="3200" b="1" dirty="0">
                <a:solidFill>
                  <a:srgbClr val="EEF2F8"/>
                </a:solidFill>
                <a:latin typeface="Space Grotesk" pitchFamily="34" charset="0"/>
                <a:ea typeface="Space Grotesk" pitchFamily="34" charset="-122"/>
                <a:cs typeface="Space Grotesk" pitchFamily="34" charset="-120"/>
              </a:rPr>
              <a:t>From a tool you use</a:t>
            </a:r>
            <a:endParaRPr lang="en-US" sz="3200" dirty="0"/>
          </a:p>
          <a:p>
            <a:pPr algn="l" indent="0" marL="0">
              <a:lnSpc>
                <a:spcPts val="3584"/>
              </a:lnSpc>
              <a:buNone/>
            </a:pPr>
            <a:r>
              <a:rPr lang="en-US" sz="3200" b="1" dirty="0">
                <a:solidFill>
                  <a:srgbClr val="EEF2F8"/>
                </a:solidFill>
                <a:latin typeface="Space Grotesk" pitchFamily="34" charset="0"/>
                <a:ea typeface="Space Grotesk" pitchFamily="34" charset="-122"/>
                <a:cs typeface="Space Grotesk" pitchFamily="34" charset="-120"/>
              </a:rPr>
              <a:t>to an agent that tunes itself.</a:t>
            </a:r>
            <a:endParaRPr lang="en-US" sz="3200" dirty="0"/>
          </a:p>
        </p:txBody>
      </p:sp>
      <p:sp>
        <p:nvSpPr>
          <p:cNvPr id="4" name="Shape 2"/>
          <p:cNvSpPr/>
          <p:nvPr/>
        </p:nvSpPr>
        <p:spPr>
          <a:xfrm>
            <a:off x="812800" y="2582863"/>
            <a:ext cx="3318933" cy="0"/>
          </a:xfrm>
          <a:prstGeom prst="line">
            <a:avLst/>
          </a:prstGeom>
          <a:noFill/>
          <a:ln w="38100">
            <a:solidFill>
              <a:srgbClr val="FFB547"/>
            </a:solidFill>
            <a:prstDash val="solid"/>
          </a:ln>
        </p:spPr>
      </p:sp>
      <p:sp>
        <p:nvSpPr>
          <p:cNvPr id="5" name="Text 3"/>
          <p:cNvSpPr/>
          <p:nvPr/>
        </p:nvSpPr>
        <p:spPr>
          <a:xfrm>
            <a:off x="812800" y="2805113"/>
            <a:ext cx="3418501" cy="256514"/>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FFB547"/>
                </a:solidFill>
                <a:latin typeface="IBM Plex Sans" pitchFamily="34" charset="0"/>
                <a:ea typeface="IBM Plex Sans" pitchFamily="34" charset="-122"/>
                <a:cs typeface="IBM Plex Sans" pitchFamily="34" charset="-120"/>
              </a:rPr>
              <a:t>TODAY</a:t>
            </a:r>
            <a:endParaRPr lang="en-US" sz="1300" dirty="0"/>
          </a:p>
        </p:txBody>
      </p:sp>
      <p:sp>
        <p:nvSpPr>
          <p:cNvPr id="6" name="Text 4"/>
          <p:cNvSpPr/>
          <p:nvPr/>
        </p:nvSpPr>
        <p:spPr>
          <a:xfrm>
            <a:off x="812800" y="3137830"/>
            <a:ext cx="341850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Interactive tool</a:t>
            </a:r>
            <a:endParaRPr lang="en-US" sz="2200" dirty="0"/>
          </a:p>
        </p:txBody>
      </p:sp>
      <p:sp>
        <p:nvSpPr>
          <p:cNvPr id="7" name="Text 5"/>
          <p:cNvSpPr/>
          <p:nvPr/>
        </p:nvSpPr>
        <p:spPr>
          <a:xfrm>
            <a:off x="812800" y="3574653"/>
            <a:ext cx="3418501"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4C3DC"/>
                </a:solidFill>
                <a:latin typeface="IBM Plex Sans" pitchFamily="34" charset="0"/>
                <a:ea typeface="IBM Plex Sans" pitchFamily="34" charset="-122"/>
                <a:cs typeface="IBM Plex Sans" pitchFamily="34" charset="-120"/>
              </a:rPr>
              <a:t>Explore, configure and see results live.</a:t>
            </a:r>
            <a:endParaRPr lang="en-US" sz="1500" dirty="0"/>
          </a:p>
        </p:txBody>
      </p:sp>
      <p:sp>
        <p:nvSpPr>
          <p:cNvPr id="8" name="Shape 6"/>
          <p:cNvSpPr/>
          <p:nvPr/>
        </p:nvSpPr>
        <p:spPr>
          <a:xfrm>
            <a:off x="4436533" y="2582863"/>
            <a:ext cx="3318933" cy="0"/>
          </a:xfrm>
          <a:prstGeom prst="line">
            <a:avLst/>
          </a:prstGeom>
          <a:noFill/>
          <a:ln w="38100">
            <a:solidFill>
              <a:srgbClr val="5CC8FF"/>
            </a:solidFill>
            <a:prstDash val="solid"/>
          </a:ln>
        </p:spPr>
      </p:sp>
      <p:sp>
        <p:nvSpPr>
          <p:cNvPr id="9" name="Text 7"/>
          <p:cNvSpPr/>
          <p:nvPr/>
        </p:nvSpPr>
        <p:spPr>
          <a:xfrm>
            <a:off x="4436533" y="2805113"/>
            <a:ext cx="3418501" cy="256514"/>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5CC8FF"/>
                </a:solidFill>
                <a:latin typeface="IBM Plex Sans" pitchFamily="34" charset="0"/>
                <a:ea typeface="IBM Plex Sans" pitchFamily="34" charset="-122"/>
                <a:cs typeface="IBM Plex Sans" pitchFamily="34" charset="-120"/>
              </a:rPr>
              <a:t>NEXT</a:t>
            </a:r>
            <a:endParaRPr lang="en-US" sz="1300" dirty="0"/>
          </a:p>
        </p:txBody>
      </p:sp>
      <p:sp>
        <p:nvSpPr>
          <p:cNvPr id="10" name="Text 8"/>
          <p:cNvSpPr/>
          <p:nvPr/>
        </p:nvSpPr>
        <p:spPr>
          <a:xfrm>
            <a:off x="4436533" y="3137830"/>
            <a:ext cx="341850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Service &amp; API</a:t>
            </a:r>
            <a:endParaRPr lang="en-US" sz="2200" dirty="0"/>
          </a:p>
        </p:txBody>
      </p:sp>
      <p:sp>
        <p:nvSpPr>
          <p:cNvPr id="11" name="Text 9"/>
          <p:cNvSpPr/>
          <p:nvPr/>
        </p:nvSpPr>
        <p:spPr>
          <a:xfrm>
            <a:off x="4436533" y="3574653"/>
            <a:ext cx="3418501" cy="301625"/>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4C3DC"/>
                </a:solidFill>
                <a:latin typeface="IBM Plex Sans" pitchFamily="34" charset="0"/>
                <a:ea typeface="IBM Plex Sans" pitchFamily="34" charset="-122"/>
                <a:cs typeface="IBM Plex Sans" pitchFamily="34" charset="-120"/>
              </a:rPr>
              <a:t>Plugs into CI/CD and batch pipelines.</a:t>
            </a:r>
            <a:endParaRPr lang="en-US" sz="1500" dirty="0"/>
          </a:p>
        </p:txBody>
      </p:sp>
      <p:sp>
        <p:nvSpPr>
          <p:cNvPr id="12" name="Shape 10"/>
          <p:cNvSpPr/>
          <p:nvPr/>
        </p:nvSpPr>
        <p:spPr>
          <a:xfrm>
            <a:off x="8060267" y="2582863"/>
            <a:ext cx="3318933" cy="0"/>
          </a:xfrm>
          <a:prstGeom prst="line">
            <a:avLst/>
          </a:prstGeom>
          <a:noFill/>
          <a:ln w="38100">
            <a:solidFill>
              <a:srgbClr val="8A9BFF"/>
            </a:solidFill>
            <a:prstDash val="solid"/>
          </a:ln>
        </p:spPr>
      </p:sp>
      <p:sp>
        <p:nvSpPr>
          <p:cNvPr id="13" name="Text 11"/>
          <p:cNvSpPr/>
          <p:nvPr/>
        </p:nvSpPr>
        <p:spPr>
          <a:xfrm>
            <a:off x="8060267" y="2805113"/>
            <a:ext cx="3418501" cy="256514"/>
          </a:xfrm>
          <a:prstGeom prst="rect">
            <a:avLst/>
          </a:prstGeom>
          <a:noFill/>
          <a:ln/>
        </p:spPr>
        <p:txBody>
          <a:bodyPr wrap="square" lIns="0" tIns="0" rIns="0" bIns="0" rtlCol="0" anchor="t">
            <a:normAutofit/>
          </a:bodyPr>
          <a:lstStyle/>
          <a:p>
            <a:pPr algn="l" indent="0" marL="0">
              <a:lnSpc>
                <a:spcPts val="1820"/>
              </a:lnSpc>
              <a:buNone/>
            </a:pPr>
            <a:r>
              <a:rPr lang="en-US" sz="1300" b="1" spc="200" kern="0" dirty="0">
                <a:solidFill>
                  <a:srgbClr val="8A9BFF"/>
                </a:solidFill>
                <a:latin typeface="IBM Plex Sans" pitchFamily="34" charset="0"/>
                <a:ea typeface="IBM Plex Sans" pitchFamily="34" charset="-122"/>
                <a:cs typeface="IBM Plex Sans" pitchFamily="34" charset="-120"/>
              </a:rPr>
              <a:t>FUTURE</a:t>
            </a:r>
            <a:endParaRPr lang="en-US" sz="1300" dirty="0"/>
          </a:p>
        </p:txBody>
      </p:sp>
      <p:sp>
        <p:nvSpPr>
          <p:cNvPr id="14" name="Text 12"/>
          <p:cNvSpPr/>
          <p:nvPr/>
        </p:nvSpPr>
        <p:spPr>
          <a:xfrm>
            <a:off x="8060267" y="3137830"/>
            <a:ext cx="3418501" cy="360627"/>
          </a:xfrm>
          <a:prstGeom prst="rect">
            <a:avLst/>
          </a:prstGeom>
          <a:noFill/>
          <a:ln/>
        </p:spPr>
        <p:txBody>
          <a:bodyPr wrap="square" lIns="0" tIns="0" rIns="0" bIns="0" rtlCol="0" anchor="t">
            <a:normAutofit/>
          </a:bodyPr>
          <a:lstStyle/>
          <a:p>
            <a:pPr algn="l" indent="0" marL="0">
              <a:lnSpc>
                <a:spcPts val="2640"/>
              </a:lnSpc>
              <a:buNone/>
            </a:pPr>
            <a:r>
              <a:rPr lang="en-US" sz="2200" b="1" dirty="0">
                <a:solidFill>
                  <a:srgbClr val="EEF2F8"/>
                </a:solidFill>
                <a:latin typeface="Space Grotesk" pitchFamily="34" charset="0"/>
                <a:ea typeface="Space Grotesk" pitchFamily="34" charset="-122"/>
                <a:cs typeface="Space Grotesk" pitchFamily="34" charset="-120"/>
              </a:rPr>
              <a:t>AI agent</a:t>
            </a:r>
            <a:endParaRPr lang="en-US" sz="2200" dirty="0"/>
          </a:p>
        </p:txBody>
      </p:sp>
      <p:sp>
        <p:nvSpPr>
          <p:cNvPr id="15" name="Text 13"/>
          <p:cNvSpPr/>
          <p:nvPr/>
        </p:nvSpPr>
        <p:spPr>
          <a:xfrm>
            <a:off x="8060267" y="3574653"/>
            <a:ext cx="3418501" cy="577850"/>
          </a:xfrm>
          <a:prstGeom prst="rect">
            <a:avLst/>
          </a:prstGeom>
          <a:noFill/>
          <a:ln/>
        </p:spPr>
        <p:txBody>
          <a:bodyPr wrap="square" lIns="0" tIns="0" rIns="0" bIns="0" rtlCol="0" anchor="t">
            <a:normAutofit/>
          </a:bodyPr>
          <a:lstStyle/>
          <a:p>
            <a:pPr algn="l" indent="0" marL="0">
              <a:lnSpc>
                <a:spcPts val="2175"/>
              </a:lnSpc>
              <a:buNone/>
            </a:pPr>
            <a:r>
              <a:rPr lang="en-US" sz="1500" dirty="0">
                <a:solidFill>
                  <a:srgbClr val="B4C3DC"/>
                </a:solidFill>
                <a:latin typeface="IBM Plex Sans" pitchFamily="34" charset="0"/>
                <a:ea typeface="IBM Plex Sans" pitchFamily="34" charset="-122"/>
                <a:cs typeface="IBM Plex Sans" pitchFamily="34" charset="-120"/>
              </a:rPr>
              <a:t>Watches its own scores, adjusts, re-runs until it is right.</a:t>
            </a:r>
            <a:endParaRPr lang="en-US" sz="1500" dirty="0"/>
          </a:p>
        </p:txBody>
      </p:sp>
      <p:sp>
        <p:nvSpPr>
          <p:cNvPr id="16" name="Shape 14"/>
          <p:cNvSpPr/>
          <p:nvPr/>
        </p:nvSpPr>
        <p:spPr>
          <a:xfrm>
            <a:off x="812800" y="4431903"/>
            <a:ext cx="10566400" cy="660400"/>
          </a:xfrm>
          <a:prstGeom prst="roundRect">
            <a:avLst>
              <a:gd name="adj" fmla="val 15385"/>
            </a:avLst>
          </a:prstGeom>
          <a:solidFill>
            <a:srgbClr val="12264D"/>
          </a:solidFill>
          <a:ln/>
        </p:spPr>
      </p:sp>
      <p:pic>
        <p:nvPicPr>
          <p:cNvPr id="17" name="Image 0" descr="Home">    </p:cNvPr>
          <p:cNvPicPr>
            <a:picLocks noChangeAspect="1"/>
          </p:cNvPicPr>
          <p:nvPr/>
        </p:nvPicPr>
        <p:blipFill>
          <a:blip r:embed="rId1"/>
          <a:srcRect l="0" r="0" t="0" b="0"/>
          <a:stretch/>
        </p:blipFill>
        <p:spPr>
          <a:xfrm>
            <a:off x="1066800" y="4609703"/>
            <a:ext cx="304800" cy="304800"/>
          </a:xfrm>
          <a:prstGeom prst="rect">
            <a:avLst/>
          </a:prstGeom>
        </p:spPr>
      </p:pic>
      <p:sp>
        <p:nvSpPr>
          <p:cNvPr id="18" name="Text 15"/>
          <p:cNvSpPr/>
          <p:nvPr/>
        </p:nvSpPr>
        <p:spPr>
          <a:xfrm>
            <a:off x="1524000" y="4628753"/>
            <a:ext cx="819749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EF2F8"/>
                </a:solidFill>
                <a:latin typeface="IBM Plex Sans" pitchFamily="34" charset="0"/>
                <a:ea typeface="IBM Plex Sans" pitchFamily="34" charset="-122"/>
                <a:cs typeface="IBM Plex Sans" pitchFamily="34" charset="-120"/>
              </a:rPr>
              <a:t>Home-grown.</a:t>
            </a:r>
            <a:r>
              <a:rPr lang="en-US" sz="1500" dirty="0">
                <a:solidFill>
                  <a:srgbClr val="EEF2F8"/>
                </a:solidFill>
                <a:latin typeface="IBM Plex Sans" pitchFamily="34" charset="0"/>
                <a:ea typeface="IBM Plex Sans" pitchFamily="34" charset="-122"/>
                <a:cs typeface="IBM Plex Sans" pitchFamily="34" charset="-120"/>
              </a:rPr>
              <a:t> No licences, just compute — tuned to each dataset, and every run proves itself.</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7386F"/>
        </a:solidFill>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386F"/>
              </a:gs>
              <a:gs pos="55000">
                <a:srgbClr val="0A1A3A"/>
              </a:gs>
              <a:gs pos="100000">
                <a:srgbClr val="06122A"/>
              </a:gs>
            </a:gsLst>
            <a:path path="circle">
              <a:fillToRect l="50000" t="45000" r="50000" b="55000"/>
            </a:path>
          </a:gradFill>
          <a:ln/>
        </p:spPr>
      </p:sp>
      <p:sp>
        <p:nvSpPr>
          <p:cNvPr id="3" name="Text 1"/>
          <p:cNvSpPr/>
          <p:nvPr/>
        </p:nvSpPr>
        <p:spPr>
          <a:xfrm>
            <a:off x="812800" y="812800"/>
            <a:ext cx="10883392" cy="256514"/>
          </a:xfrm>
          <a:prstGeom prst="rect">
            <a:avLst/>
          </a:prstGeom>
          <a:noFill/>
          <a:ln/>
        </p:spPr>
        <p:txBody>
          <a:bodyPr wrap="square" lIns="0" tIns="0" rIns="0" bIns="0" rtlCol="0" anchor="t">
            <a:normAutofit/>
          </a:bodyPr>
          <a:lstStyle/>
          <a:p>
            <a:pPr algn="l" indent="0" marL="0">
              <a:lnSpc>
                <a:spcPts val="1820"/>
              </a:lnSpc>
              <a:buNone/>
            </a:pPr>
            <a:r>
              <a:rPr lang="en-US" sz="1300" b="1" spc="300" kern="0" dirty="0">
                <a:solidFill>
                  <a:srgbClr val="FFB547"/>
                </a:solidFill>
                <a:latin typeface="IBM Plex Sans" pitchFamily="34" charset="0"/>
                <a:ea typeface="IBM Plex Sans" pitchFamily="34" charset="-122"/>
                <a:cs typeface="IBM Plex Sans" pitchFamily="34" charset="-120"/>
              </a:rPr>
              <a:t>LET US TALK</a:t>
            </a:r>
            <a:endParaRPr lang="en-US" sz="1300" dirty="0"/>
          </a:p>
        </p:txBody>
      </p:sp>
      <p:sp>
        <p:nvSpPr>
          <p:cNvPr id="4" name="Text 2"/>
          <p:cNvSpPr/>
          <p:nvPr/>
        </p:nvSpPr>
        <p:spPr>
          <a:xfrm>
            <a:off x="812800" y="1297918"/>
            <a:ext cx="10883392" cy="1451769"/>
          </a:xfrm>
          <a:prstGeom prst="rect">
            <a:avLst/>
          </a:prstGeom>
          <a:noFill/>
          <a:ln/>
        </p:spPr>
        <p:txBody>
          <a:bodyPr wrap="square" lIns="0" tIns="0" rIns="0" bIns="0" rtlCol="0" anchor="t">
            <a:normAutofit/>
          </a:bodyPr>
          <a:lstStyle/>
          <a:p>
            <a:pPr algn="l" indent="0" marL="0">
              <a:lnSpc>
                <a:spcPts val="5616"/>
              </a:lnSpc>
              <a:buNone/>
            </a:pPr>
            <a:r>
              <a:rPr lang="en-US" sz="5200" b="1" dirty="0">
                <a:solidFill>
                  <a:srgbClr val="EEF2F8"/>
                </a:solidFill>
                <a:latin typeface="Space Grotesk" pitchFamily="34" charset="0"/>
                <a:ea typeface="Space Grotesk" pitchFamily="34" charset="-122"/>
                <a:cs typeface="Space Grotesk" pitchFamily="34" charset="-120"/>
              </a:rPr>
              <a:t>Bring me your biggest,</a:t>
            </a:r>
            <a:endParaRPr lang="en-US" sz="5200" dirty="0"/>
          </a:p>
          <a:p>
            <a:pPr algn="l" indent="0" marL="0">
              <a:lnSpc>
                <a:spcPts val="5616"/>
              </a:lnSpc>
              <a:buNone/>
            </a:pPr>
            <a:r>
              <a:rPr lang="en-US" sz="5200" b="1" dirty="0">
                <a:solidFill>
                  <a:srgbClr val="FFB547"/>
                </a:solidFill>
                <a:latin typeface="Space Grotesk" pitchFamily="34" charset="0"/>
                <a:ea typeface="Space Grotesk" pitchFamily="34" charset="-122"/>
                <a:cs typeface="Space Grotesk" pitchFamily="34" charset="-120"/>
              </a:rPr>
              <a:t>messiest dataset.</a:t>
            </a:r>
            <a:endParaRPr lang="en-US" sz="5200" dirty="0"/>
          </a:p>
        </p:txBody>
      </p:sp>
      <p:sp>
        <p:nvSpPr>
          <p:cNvPr id="5" name="Text 3"/>
          <p:cNvSpPr/>
          <p:nvPr/>
        </p:nvSpPr>
        <p:spPr>
          <a:xfrm>
            <a:off x="812800" y="2978286"/>
            <a:ext cx="10883392" cy="345414"/>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4C3DC"/>
                </a:solidFill>
                <a:latin typeface="IBM Plex Sans" pitchFamily="34" charset="0"/>
                <a:ea typeface="IBM Plex Sans" pitchFamily="34" charset="-122"/>
                <a:cs typeface="IBM Plex Sans" pitchFamily="34" charset="-120"/>
              </a:rPr>
              <a:t>Let's see how few rows it takes to tell the whole story.</a:t>
            </a:r>
            <a:endParaRPr lang="en-US" sz="1800" dirty="0"/>
          </a:p>
        </p:txBody>
      </p:sp>
      <p:sp>
        <p:nvSpPr>
          <p:cNvPr id="6" name="Text 4"/>
          <p:cNvSpPr/>
          <p:nvPr/>
        </p:nvSpPr>
        <p:spPr>
          <a:xfrm>
            <a:off x="812800" y="5328977"/>
            <a:ext cx="10883392" cy="274307"/>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EEF2F8"/>
                </a:solidFill>
                <a:latin typeface="IBM Plex Sans" pitchFamily="34" charset="0"/>
                <a:ea typeface="IBM Plex Sans" pitchFamily="34" charset="-122"/>
                <a:cs typeface="IBM Plex Sans" pitchFamily="34" charset="-120"/>
              </a:rPr>
              <a:t>Karthik S · [email or Teams channel]</a:t>
            </a:r>
            <a:endParaRPr lang="en-US" sz="1400" dirty="0"/>
          </a:p>
        </p:txBody>
      </p:sp>
      <p:sp>
        <p:nvSpPr>
          <p:cNvPr id="7" name="Text 5"/>
          <p:cNvSpPr/>
          <p:nvPr/>
        </p:nvSpPr>
        <p:spPr>
          <a:xfrm>
            <a:off x="812800" y="583188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4C3DC"/>
                </a:solidFill>
                <a:latin typeface="IBM Plex Sans" pitchFamily="34" charset="0"/>
                <a:ea typeface="IBM Plex Sans" pitchFamily="34" charset="-122"/>
                <a:cs typeface="IBM Plex Sans" pitchFamily="34" charset="-120"/>
              </a:rPr>
              <a:t>Smart Sampling — millions of rows, a few thousand, nothing lost.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Sampling — 5-Minute Talk (11 slides)</dc:title>
  <dc:subject>PptxGenJS Presentation</dc:subject>
  <dc:creator>PptxGenJS</dc:creator>
  <cp:lastModifiedBy>PptxGenJS</cp:lastModifiedBy>
  <cp:revision>1</cp:revision>
  <dcterms:created xsi:type="dcterms:W3CDTF">2026-09-23T19:30:49Z</dcterms:created>
  <dcterms:modified xsi:type="dcterms:W3CDTF">2026-09-23T19:30:49Z</dcterms:modified>
</cp:coreProperties>
</file>